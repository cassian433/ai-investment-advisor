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F2B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574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5400" b="1">
                <a:solidFill>
                  <a:srgbClr val="F2B73F"/>
                </a:solidFill>
                <a:latin typeface="Calibri"/>
              </a:rPr>
              <a:t>AI Investment Advisor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154680"/>
            <a:ext cx="87782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200" b="0">
                <a:solidFill>
                  <a:srgbClr val="E6E9EF"/>
                </a:solidFill>
                <a:latin typeface="Calibri"/>
              </a:rPr>
              <a:t>Tell it how much money you have. It tells you where to put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43400"/>
            <a:ext cx="2377440" cy="10972"/>
          </a:xfrm>
          <a:prstGeom prst="rect">
            <a:avLst/>
          </a:prstGeom>
          <a:solidFill>
            <a:srgbClr val="1E2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61772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E6E9EF"/>
                </a:solidFill>
                <a:latin typeface="Calibri"/>
              </a:rPr>
              <a:t>Atharva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8A93A6"/>
                </a:solidFill>
                <a:latin typeface="Calibri"/>
              </a:rPr>
              <a:t>Project Based Learning,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8295" y="4617720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8A93A6"/>
                </a:solidFill>
                <a:latin typeface="Calibri"/>
              </a:rPr>
              <a:t>atharva.funl.bio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566928" cy="50292"/>
          </a:xfrm>
          <a:prstGeom prst="rect">
            <a:avLst/>
          </a:prstGeom>
          <a:solidFill>
            <a:srgbClr val="F2B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400" b="1">
                <a:solidFill>
                  <a:srgbClr val="F2B73F"/>
                </a:solidFill>
                <a:latin typeface="Calibri"/>
              </a:rPr>
              <a:t>The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240280"/>
            <a:ext cx="10820095" cy="1170432"/>
          </a:xfrm>
          <a:prstGeom prst="roundRect">
            <a:avLst>
              <a:gd name="adj" fmla="val 7000"/>
            </a:avLst>
          </a:prstGeom>
          <a:solidFill>
            <a:srgbClr val="10151F"/>
          </a:solidFill>
          <a:ln w="12700">
            <a:solidFill>
              <a:srgbClr val="1E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85800" y="2441448"/>
            <a:ext cx="45720" cy="768096"/>
          </a:xfrm>
          <a:prstGeom prst="rect">
            <a:avLst/>
          </a:prstGeom>
          <a:solidFill>
            <a:srgbClr val="F2B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423160"/>
            <a:ext cx="9997135" cy="8046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600" b="0">
                <a:solidFill>
                  <a:srgbClr val="E6E9EF"/>
                </a:solidFill>
                <a:latin typeface="Calibri"/>
              </a:rPr>
              <a:t>Most people leave their savings in a bank account, where inflation eats the value year after year.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703320"/>
            <a:ext cx="10820095" cy="1170432"/>
          </a:xfrm>
          <a:prstGeom prst="roundRect">
            <a:avLst>
              <a:gd name="adj" fmla="val 7000"/>
            </a:avLst>
          </a:prstGeom>
          <a:solidFill>
            <a:srgbClr val="10151F"/>
          </a:solidFill>
          <a:ln w="12700">
            <a:solidFill>
              <a:srgbClr val="1E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85800" y="3904488"/>
            <a:ext cx="45720" cy="768096"/>
          </a:xfrm>
          <a:prstGeom prst="rect">
            <a:avLst/>
          </a:prstGeom>
          <a:solidFill>
            <a:srgbClr val="F2B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3886200"/>
            <a:ext cx="9997135" cy="8046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600" b="0">
                <a:solidFill>
                  <a:srgbClr val="E6E9EF"/>
                </a:solidFill>
                <a:latin typeface="Calibri"/>
              </a:rPr>
              <a:t>Advice from banks and apps is generic, or it points you at the products they earn from.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166360"/>
            <a:ext cx="10820095" cy="1170432"/>
          </a:xfrm>
          <a:prstGeom prst="roundRect">
            <a:avLst>
              <a:gd name="adj" fmla="val 7000"/>
            </a:avLst>
          </a:prstGeom>
          <a:solidFill>
            <a:srgbClr val="10151F"/>
          </a:solidFill>
          <a:ln w="12700">
            <a:solidFill>
              <a:srgbClr val="1E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5367528"/>
            <a:ext cx="45720" cy="768096"/>
          </a:xfrm>
          <a:prstGeom prst="rect">
            <a:avLst/>
          </a:prstGeom>
          <a:solidFill>
            <a:srgbClr val="F2B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5349240"/>
            <a:ext cx="9997135" cy="8046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600" b="0">
                <a:solidFill>
                  <a:srgbClr val="E6E9EF"/>
                </a:solidFill>
                <a:latin typeface="Calibri"/>
              </a:rPr>
              <a:t>A normal person cannot read the market every day and act on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9149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8A93A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566928" cy="50292"/>
          </a:xfrm>
          <a:prstGeom prst="rect">
            <a:avLst/>
          </a:prstGeom>
          <a:solidFill>
            <a:srgbClr val="F2B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400" b="1">
                <a:solidFill>
                  <a:srgbClr val="F2B73F"/>
                </a:solidFill>
                <a:latin typeface="Calibri"/>
              </a:rP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E6E9EF"/>
                </a:solidFill>
                <a:latin typeface="Calibri"/>
              </a:rPr>
              <a:t>A web app that takes three answers from you and returns a plan for your money, backed by live market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788920"/>
            <a:ext cx="2560320" cy="2148840"/>
          </a:xfrm>
          <a:prstGeom prst="roundRect">
            <a:avLst>
              <a:gd name="adj" fmla="val 7000"/>
            </a:avLst>
          </a:prstGeom>
          <a:solidFill>
            <a:srgbClr val="10151F"/>
          </a:solidFill>
          <a:ln w="12700">
            <a:solidFill>
              <a:srgbClr val="1E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60120" y="3154679"/>
            <a:ext cx="310896" cy="41148"/>
          </a:xfrm>
          <a:prstGeom prst="rect">
            <a:avLst/>
          </a:prstGeom>
          <a:solidFill>
            <a:srgbClr val="F2B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429000"/>
            <a:ext cx="2011679" cy="1234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700" b="1">
                <a:solidFill>
                  <a:srgbClr val="F2B73F"/>
                </a:solidFill>
                <a:latin typeface="Calibri"/>
              </a:rPr>
              <a:t>Risk score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0">
                <a:solidFill>
                  <a:srgbClr val="8A93A6"/>
                </a:solidFill>
                <a:latin typeface="Calibri"/>
              </a:rPr>
              <a:t>A number from 0 to 100 that says how much risk suits you.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9584" y="2788920"/>
            <a:ext cx="2560320" cy="2148840"/>
          </a:xfrm>
          <a:prstGeom prst="roundRect">
            <a:avLst>
              <a:gd name="adj" fmla="val 7000"/>
            </a:avLst>
          </a:prstGeom>
          <a:solidFill>
            <a:srgbClr val="10151F"/>
          </a:solidFill>
          <a:ln w="12700">
            <a:solidFill>
              <a:srgbClr val="1E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803904" y="3154679"/>
            <a:ext cx="310896" cy="41148"/>
          </a:xfrm>
          <a:prstGeom prst="rect">
            <a:avLst/>
          </a:prstGeom>
          <a:solidFill>
            <a:srgbClr val="F2B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03904" y="3429000"/>
            <a:ext cx="2011679" cy="1234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700" b="1">
                <a:solidFill>
                  <a:srgbClr val="F2B73F"/>
                </a:solidFill>
                <a:latin typeface="Calibri"/>
              </a:rPr>
              <a:t>Where to invest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0">
                <a:solidFill>
                  <a:srgbClr val="8A93A6"/>
                </a:solidFill>
                <a:latin typeface="Calibri"/>
              </a:rPr>
              <a:t>Your money split across five options, in rupees and in percent.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73368" y="2788920"/>
            <a:ext cx="2560320" cy="2148840"/>
          </a:xfrm>
          <a:prstGeom prst="roundRect">
            <a:avLst>
              <a:gd name="adj" fmla="val 7000"/>
            </a:avLst>
          </a:prstGeom>
          <a:solidFill>
            <a:srgbClr val="10151F"/>
          </a:solidFill>
          <a:ln w="12700">
            <a:solidFill>
              <a:srgbClr val="1E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647688" y="3154679"/>
            <a:ext cx="310896" cy="41148"/>
          </a:xfrm>
          <a:prstGeom prst="rect">
            <a:avLst/>
          </a:prstGeom>
          <a:solidFill>
            <a:srgbClr val="F2B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3429000"/>
            <a:ext cx="2011679" cy="1234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700" b="1">
                <a:solidFill>
                  <a:srgbClr val="F2B73F"/>
                </a:solidFill>
                <a:latin typeface="Calibri"/>
              </a:rPr>
              <a:t>Live market and news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0">
                <a:solidFill>
                  <a:srgbClr val="8A93A6"/>
                </a:solidFill>
                <a:latin typeface="Calibri"/>
              </a:rPr>
              <a:t>Five stock picks with today's price, and today's headlines.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17152" y="2788920"/>
            <a:ext cx="2560320" cy="2148840"/>
          </a:xfrm>
          <a:prstGeom prst="roundRect">
            <a:avLst>
              <a:gd name="adj" fmla="val 7000"/>
            </a:avLst>
          </a:prstGeom>
          <a:solidFill>
            <a:srgbClr val="10151F"/>
          </a:solidFill>
          <a:ln w="12700">
            <a:solidFill>
              <a:srgbClr val="1E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9491472" y="3154679"/>
            <a:ext cx="310896" cy="41148"/>
          </a:xfrm>
          <a:prstGeom prst="rect">
            <a:avLst/>
          </a:prstGeom>
          <a:solidFill>
            <a:srgbClr val="F2B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91472" y="3429000"/>
            <a:ext cx="2011679" cy="1234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700" b="1">
                <a:solidFill>
                  <a:srgbClr val="F2B73F"/>
                </a:solidFill>
                <a:latin typeface="Calibri"/>
              </a:rPr>
              <a:t>Growth projection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0">
                <a:solidFill>
                  <a:srgbClr val="8A93A6"/>
                </a:solidFill>
                <a:latin typeface="Calibri"/>
              </a:rPr>
              <a:t>What the amount could become over the period you chose.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9149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8A93A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566928" cy="50292"/>
          </a:xfrm>
          <a:prstGeom prst="rect">
            <a:avLst/>
          </a:prstGeom>
          <a:solidFill>
            <a:srgbClr val="F2B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400" b="1">
                <a:solidFill>
                  <a:srgbClr val="F2B73F"/>
                </a:solidFill>
                <a:latin typeface="Calibri"/>
              </a:rPr>
              <a:t>How it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743200"/>
            <a:ext cx="1956816" cy="2194560"/>
          </a:xfrm>
          <a:prstGeom prst="roundRect">
            <a:avLst>
              <a:gd name="adj" fmla="val 7000"/>
            </a:avLst>
          </a:prstGeom>
          <a:solidFill>
            <a:srgbClr val="10151F"/>
          </a:solidFill>
          <a:ln w="12700">
            <a:solidFill>
              <a:srgbClr val="1E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23544" y="298094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F2B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A0D14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" y="3584448"/>
            <a:ext cx="1481328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alibri"/>
              </a:rPr>
              <a:t>You enter amount, time, and comfort with risk.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92908" y="3739896"/>
            <a:ext cx="219456" cy="201168"/>
          </a:xfrm>
          <a:prstGeom prst="rightArrow">
            <a:avLst>
              <a:gd name="adj1" fmla="val 40000"/>
              <a:gd name="adj2" fmla="val 55000"/>
            </a:avLst>
          </a:prstGeom>
          <a:solidFill>
            <a:srgbClr val="F2B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62656" y="2743200"/>
            <a:ext cx="1956816" cy="2194560"/>
          </a:xfrm>
          <a:prstGeom prst="roundRect">
            <a:avLst>
              <a:gd name="adj" fmla="val 7000"/>
            </a:avLst>
          </a:prstGeom>
          <a:solidFill>
            <a:srgbClr val="10151F"/>
          </a:solidFill>
          <a:ln w="12700">
            <a:solidFill>
              <a:srgbClr val="1E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3200400" y="298094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F2B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A0D14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584448"/>
            <a:ext cx="1481328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alibri"/>
              </a:rPr>
              <a:t>The model scores your risk.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969764" y="3739896"/>
            <a:ext cx="219456" cy="201168"/>
          </a:xfrm>
          <a:prstGeom prst="rightArrow">
            <a:avLst>
              <a:gd name="adj1" fmla="val 40000"/>
              <a:gd name="adj2" fmla="val 55000"/>
            </a:avLst>
          </a:prstGeom>
          <a:solidFill>
            <a:srgbClr val="F2B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39512" y="2743200"/>
            <a:ext cx="1956816" cy="2194560"/>
          </a:xfrm>
          <a:prstGeom prst="roundRect">
            <a:avLst>
              <a:gd name="adj" fmla="val 7000"/>
            </a:avLst>
          </a:prstGeom>
          <a:solidFill>
            <a:srgbClr val="10151F"/>
          </a:solidFill>
          <a:ln w="12700">
            <a:solidFill>
              <a:srgbClr val="1E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5477256" y="298094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F2B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A0D14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77256" y="3584448"/>
            <a:ext cx="1481328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alibri"/>
              </a:rPr>
              <a:t>Money is split across five options based on that score.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246620" y="3739896"/>
            <a:ext cx="219456" cy="201168"/>
          </a:xfrm>
          <a:prstGeom prst="rightArrow">
            <a:avLst>
              <a:gd name="adj1" fmla="val 40000"/>
              <a:gd name="adj2" fmla="val 55000"/>
            </a:avLst>
          </a:prstGeom>
          <a:solidFill>
            <a:srgbClr val="F2B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16368" y="2743200"/>
            <a:ext cx="1956816" cy="2194560"/>
          </a:xfrm>
          <a:prstGeom prst="roundRect">
            <a:avLst>
              <a:gd name="adj" fmla="val 7000"/>
            </a:avLst>
          </a:prstGeom>
          <a:solidFill>
            <a:srgbClr val="10151F"/>
          </a:solidFill>
          <a:ln w="12700">
            <a:solidFill>
              <a:srgbClr val="1E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7754112" y="298094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F2B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A0D14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4112" y="3584448"/>
            <a:ext cx="1481328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alibri"/>
              </a:rPr>
              <a:t>Live prices and news are pulled in.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523476" y="3739896"/>
            <a:ext cx="219456" cy="201168"/>
          </a:xfrm>
          <a:prstGeom prst="rightArrow">
            <a:avLst>
              <a:gd name="adj1" fmla="val 40000"/>
              <a:gd name="adj2" fmla="val 55000"/>
            </a:avLst>
          </a:prstGeom>
          <a:solidFill>
            <a:srgbClr val="F2B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793224" y="2743200"/>
            <a:ext cx="1956816" cy="2194560"/>
          </a:xfrm>
          <a:prstGeom prst="roundRect">
            <a:avLst>
              <a:gd name="adj" fmla="val 7000"/>
            </a:avLst>
          </a:prstGeom>
          <a:solidFill>
            <a:srgbClr val="10151F"/>
          </a:solidFill>
          <a:ln w="12700">
            <a:solidFill>
              <a:srgbClr val="1E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10030968" y="298094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F2B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A0D14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30968" y="3584448"/>
            <a:ext cx="1481328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alibri"/>
              </a:rPr>
              <a:t>Growth is projected with a best and worst case.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9149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8A93A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566928" cy="50292"/>
          </a:xfrm>
          <a:prstGeom prst="rect">
            <a:avLst/>
          </a:prstGeom>
          <a:solidFill>
            <a:srgbClr val="F2B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400" b="1">
                <a:solidFill>
                  <a:srgbClr val="F2B73F"/>
                </a:solidFill>
                <a:latin typeface="Calibri"/>
              </a:rPr>
              <a:t>The AI part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57400"/>
            <a:ext cx="5358384" cy="3063240"/>
          </a:xfrm>
          <a:prstGeom prst="roundRect">
            <a:avLst>
              <a:gd name="adj" fmla="val 7000"/>
            </a:avLst>
          </a:prstGeom>
          <a:solidFill>
            <a:srgbClr val="10151F"/>
          </a:solidFill>
          <a:ln w="12700">
            <a:solidFill>
              <a:srgbClr val="1E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996696" y="2404872"/>
            <a:ext cx="310896" cy="41148"/>
          </a:xfrm>
          <a:prstGeom prst="rect">
            <a:avLst/>
          </a:prstGeom>
          <a:solidFill>
            <a:srgbClr val="F2B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6" y="2660904"/>
            <a:ext cx="4736592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2100" b="1">
                <a:solidFill>
                  <a:srgbClr val="F2B73F"/>
                </a:solidFill>
                <a:latin typeface="Calibri"/>
              </a:rPr>
              <a:t>Risk model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00" b="0">
                <a:solidFill>
                  <a:srgbClr val="E6E9EF"/>
                </a:solidFill>
                <a:latin typeface="Calibri"/>
              </a:rPr>
              <a:t>A logistic regression model, one of the simplest there is.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00" b="0">
                <a:solidFill>
                  <a:srgbClr val="E6E9EF"/>
                </a:solidFill>
                <a:latin typeface="Calibri"/>
              </a:rPr>
              <a:t>Trained on 2,000 investor profiles: amount, time horizon, and stated risk preference.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6E9EF"/>
                </a:solidFill>
                <a:latin typeface="Calibri"/>
              </a:rPr>
              <a:t>It returns one number, a risk score from 0 to 100.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19088" y="2057400"/>
            <a:ext cx="5358384" cy="3063240"/>
          </a:xfrm>
          <a:prstGeom prst="roundRect">
            <a:avLst>
              <a:gd name="adj" fmla="val 7000"/>
            </a:avLst>
          </a:prstGeom>
          <a:solidFill>
            <a:srgbClr val="10151F"/>
          </a:solidFill>
          <a:ln w="12700">
            <a:solidFill>
              <a:srgbClr val="1E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729984" y="2404872"/>
            <a:ext cx="310896" cy="41148"/>
          </a:xfrm>
          <a:prstGeom prst="rect">
            <a:avLst/>
          </a:prstGeom>
          <a:solidFill>
            <a:srgbClr val="F2B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9984" y="2660904"/>
            <a:ext cx="4736592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2100" b="1">
                <a:solidFill>
                  <a:srgbClr val="F2B73F"/>
                </a:solidFill>
                <a:latin typeface="Calibri"/>
              </a:rPr>
              <a:t>News reading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00" b="0">
                <a:solidFill>
                  <a:srgbClr val="E6E9EF"/>
                </a:solidFill>
                <a:latin typeface="Calibri"/>
              </a:rPr>
              <a:t>Every headline we pull is scored as positive, neutral or negative.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6E9EF"/>
                </a:solidFill>
                <a:latin typeface="Calibri"/>
              </a:rPr>
              <a:t>Those scores are combined into one market mood for the day.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9984" y="436168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10151F"/>
          </a:solidFill>
          <a:ln w="12700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3DDC97"/>
                </a:solidFill>
                <a:latin typeface="Calibri"/>
              </a:rPr>
              <a:t>Positive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4361688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10151F"/>
          </a:solidFill>
          <a:ln w="12700">
            <a:solidFill>
              <a:srgbClr val="8A9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8A93A6"/>
                </a:solidFill>
                <a:latin typeface="Calibri"/>
              </a:rPr>
              <a:t>Neutral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90304" y="4361688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10151F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6B6B"/>
                </a:solidFill>
                <a:latin typeface="Calibri"/>
              </a:rPr>
              <a:t>Negative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504688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8A93A6"/>
                </a:solidFill>
                <a:latin typeface="Calibri"/>
              </a:rPr>
              <a:t>Both models are small enough to explain on one slide, and both run live on every request.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9149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8A93A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566928" cy="50292"/>
          </a:xfrm>
          <a:prstGeom prst="rect">
            <a:avLst/>
          </a:prstGeom>
          <a:solidFill>
            <a:srgbClr val="F2B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400" b="1">
                <a:solidFill>
                  <a:srgbClr val="F2B73F"/>
                </a:solidFill>
                <a:latin typeface="Calibr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000" b="1">
                <a:solidFill>
                  <a:srgbClr val="F2B73F"/>
                </a:solidFill>
                <a:latin typeface="Calibri"/>
              </a:rPr>
              <a:t>atharva.funl.bio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127248"/>
            <a:ext cx="1463040" cy="41148"/>
          </a:xfrm>
          <a:prstGeom prst="rect">
            <a:avLst/>
          </a:prstGeom>
          <a:solidFill>
            <a:srgbClr val="F2B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474720"/>
            <a:ext cx="448056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 b="0">
                <a:solidFill>
                  <a:srgbClr val="E6E9EF"/>
                </a:solidFill>
                <a:latin typeface="Calibri"/>
              </a:rPr>
              <a:t>Example: 5 lakh, 5 years, moderate risk.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8A93A6"/>
                </a:solidFill>
                <a:latin typeface="Calibri"/>
              </a:rPr>
              <a:t>Live now. React and FastAPI, with a built-in assistant on Claude Sonnet. Code on GitHub.</a:t>
            </a:r>
          </a:p>
        </p:txBody>
      </p:sp>
      <p:pic>
        <p:nvPicPr>
          <p:cNvPr id="7" name="Picture 6" descr="screenshot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057400"/>
            <a:ext cx="5715000" cy="381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59149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8A93A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566928" cy="50292"/>
          </a:xfrm>
          <a:prstGeom prst="rect">
            <a:avLst/>
          </a:prstGeom>
          <a:solidFill>
            <a:srgbClr val="F2B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400" b="1">
                <a:solidFill>
                  <a:srgbClr val="F2B73F"/>
                </a:solidFill>
                <a:latin typeface="Calibri"/>
              </a:rPr>
              <a:t>Data 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148840"/>
            <a:ext cx="10820095" cy="1170432"/>
          </a:xfrm>
          <a:prstGeom prst="roundRect">
            <a:avLst>
              <a:gd name="adj" fmla="val 7000"/>
            </a:avLst>
          </a:prstGeom>
          <a:solidFill>
            <a:srgbClr val="10151F"/>
          </a:solidFill>
          <a:ln w="12700">
            <a:solidFill>
              <a:srgbClr val="1E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85800" y="2377440"/>
            <a:ext cx="45720" cy="713232"/>
          </a:xfrm>
          <a:prstGeom prst="rect">
            <a:avLst/>
          </a:prstGeom>
          <a:solidFill>
            <a:srgbClr val="F2B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86584"/>
            <a:ext cx="9997135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600" b="1">
                <a:solidFill>
                  <a:srgbClr val="F2B73F"/>
                </a:solidFill>
                <a:latin typeface="Calibri"/>
              </a:rPr>
              <a:t>Prices and news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6E9EF"/>
                </a:solidFill>
                <a:latin typeface="Calibri"/>
              </a:rPr>
              <a:t>Yahoo Finance, live. NSE tickers for Reliance, TCS and HDFC Bank, plus a Gold ETF and Bitcoin priced in rupees.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566160"/>
            <a:ext cx="10820095" cy="1170432"/>
          </a:xfrm>
          <a:prstGeom prst="roundRect">
            <a:avLst>
              <a:gd name="adj" fmla="val 7000"/>
            </a:avLst>
          </a:prstGeom>
          <a:solidFill>
            <a:srgbClr val="10151F"/>
          </a:solidFill>
          <a:ln w="12700">
            <a:solidFill>
              <a:srgbClr val="1E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85800" y="3794760"/>
            <a:ext cx="45720" cy="713232"/>
          </a:xfrm>
          <a:prstGeom prst="rect">
            <a:avLst/>
          </a:prstGeom>
          <a:solidFill>
            <a:srgbClr val="F2B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3803904"/>
            <a:ext cx="9997135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600" b="1">
                <a:solidFill>
                  <a:srgbClr val="F2B73F"/>
                </a:solidFill>
                <a:latin typeface="Calibri"/>
              </a:rPr>
              <a:t>Expected returns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6E9EF"/>
                </a:solidFill>
                <a:latin typeface="Calibri"/>
              </a:rPr>
              <a:t>Published long-run averages for each of the five asset classes.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983480"/>
            <a:ext cx="10820095" cy="1170432"/>
          </a:xfrm>
          <a:prstGeom prst="roundRect">
            <a:avLst>
              <a:gd name="adj" fmla="val 7000"/>
            </a:avLst>
          </a:prstGeom>
          <a:solidFill>
            <a:srgbClr val="10151F"/>
          </a:solidFill>
          <a:ln w="12700">
            <a:solidFill>
              <a:srgbClr val="1E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5212080"/>
            <a:ext cx="45720" cy="713232"/>
          </a:xfrm>
          <a:prstGeom prst="rect">
            <a:avLst/>
          </a:prstGeom>
          <a:solidFill>
            <a:srgbClr val="F2B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5221224"/>
            <a:ext cx="9997135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600" b="1">
                <a:solidFill>
                  <a:srgbClr val="F2B73F"/>
                </a:solidFill>
                <a:latin typeface="Calibri"/>
              </a:rPr>
              <a:t>Risk model training data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6E9EF"/>
                </a:solidFill>
                <a:latin typeface="Calibri"/>
              </a:rPr>
              <a:t>2,000 investor profiles generated from investor profile rules.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9149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8A93A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566928" cy="50292"/>
          </a:xfrm>
          <a:prstGeom prst="rect">
            <a:avLst/>
          </a:prstGeom>
          <a:solidFill>
            <a:srgbClr val="F2B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400" b="1">
                <a:solidFill>
                  <a:srgbClr val="F2B73F"/>
                </a:solidFill>
                <a:latin typeface="Calibri"/>
              </a:rPr>
              <a:t>What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240280"/>
            <a:ext cx="5358384" cy="1280160"/>
          </a:xfrm>
          <a:prstGeom prst="roundRect">
            <a:avLst>
              <a:gd name="adj" fmla="val 7000"/>
            </a:avLst>
          </a:prstGeom>
          <a:solidFill>
            <a:srgbClr val="10151F"/>
          </a:solidFill>
          <a:ln w="12700">
            <a:solidFill>
              <a:srgbClr val="1E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978408" y="2496312"/>
            <a:ext cx="274320" cy="41148"/>
          </a:xfrm>
          <a:prstGeom prst="rect">
            <a:avLst/>
          </a:prstGeom>
          <a:solidFill>
            <a:srgbClr val="F2B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715768"/>
            <a:ext cx="4773168" cy="594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F2B73F"/>
                </a:solidFill>
                <a:latin typeface="Calibri"/>
              </a:rPr>
              <a:t>SIP mode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8A93A6"/>
                </a:solidFill>
                <a:latin typeface="Calibri"/>
              </a:rPr>
              <a:t>Invest a fixed amount every month instead of once.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19088" y="2240280"/>
            <a:ext cx="5358384" cy="1280160"/>
          </a:xfrm>
          <a:prstGeom prst="roundRect">
            <a:avLst>
              <a:gd name="adj" fmla="val 7000"/>
            </a:avLst>
          </a:prstGeom>
          <a:solidFill>
            <a:srgbClr val="10151F"/>
          </a:solidFill>
          <a:ln w="12700">
            <a:solidFill>
              <a:srgbClr val="1E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711696" y="2496312"/>
            <a:ext cx="274320" cy="41148"/>
          </a:xfrm>
          <a:prstGeom prst="rect">
            <a:avLst/>
          </a:prstGeom>
          <a:solidFill>
            <a:srgbClr val="F2B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11696" y="2715768"/>
            <a:ext cx="4773168" cy="594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F2B73F"/>
                </a:solidFill>
                <a:latin typeface="Calibri"/>
              </a:rPr>
              <a:t>Broker connection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8A93A6"/>
                </a:solidFill>
                <a:latin typeface="Calibri"/>
              </a:rPr>
              <a:t>Link a broker account so the app can place the order for you.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831336"/>
            <a:ext cx="5358384" cy="1280160"/>
          </a:xfrm>
          <a:prstGeom prst="roundRect">
            <a:avLst>
              <a:gd name="adj" fmla="val 7000"/>
            </a:avLst>
          </a:prstGeom>
          <a:solidFill>
            <a:srgbClr val="10151F"/>
          </a:solidFill>
          <a:ln w="12700">
            <a:solidFill>
              <a:srgbClr val="1E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978408" y="4087368"/>
            <a:ext cx="274320" cy="41148"/>
          </a:xfrm>
          <a:prstGeom prst="rect">
            <a:avLst/>
          </a:prstGeom>
          <a:solidFill>
            <a:srgbClr val="F2B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4306824"/>
            <a:ext cx="4773168" cy="594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F2B73F"/>
                </a:solidFill>
                <a:latin typeface="Calibri"/>
              </a:rPr>
              <a:t>Hindi and regional languages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8A93A6"/>
                </a:solidFill>
                <a:latin typeface="Calibri"/>
              </a:rPr>
              <a:t>The same advice in the language the user thinks 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19088" y="3831336"/>
            <a:ext cx="5358384" cy="1280160"/>
          </a:xfrm>
          <a:prstGeom prst="roundRect">
            <a:avLst>
              <a:gd name="adj" fmla="val 7000"/>
            </a:avLst>
          </a:prstGeom>
          <a:solidFill>
            <a:srgbClr val="10151F"/>
          </a:solidFill>
          <a:ln w="12700">
            <a:solidFill>
              <a:srgbClr val="1E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711696" y="4087368"/>
            <a:ext cx="274320" cy="41148"/>
          </a:xfrm>
          <a:prstGeom prst="rect">
            <a:avLst/>
          </a:prstGeom>
          <a:solidFill>
            <a:srgbClr val="F2B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11696" y="4306824"/>
            <a:ext cx="4773168" cy="594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F2B73F"/>
                </a:solidFill>
                <a:latin typeface="Calibri"/>
              </a:rPr>
              <a:t>Alerts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8A93A6"/>
                </a:solidFill>
                <a:latin typeface="Calibri"/>
              </a:rPr>
              <a:t>A message when the news turns negative on something you hold.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577840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E6E9EF"/>
                </a:solidFill>
                <a:latin typeface="Calibri"/>
              </a:rPr>
              <a:t>Thank you.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9149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8A93A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