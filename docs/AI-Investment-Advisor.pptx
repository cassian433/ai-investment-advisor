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20574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5400" b="1">
                <a:solidFill>
                  <a:srgbClr val="F2B73F"/>
                </a:solidFill>
                <a:latin typeface="Calibri"/>
              </a:rPr>
              <a:t>AI Investment Advisor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154680"/>
            <a:ext cx="87782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100" b="0">
                <a:solidFill>
                  <a:srgbClr val="E6E9EF"/>
                </a:solidFill>
                <a:latin typeface="Calibri"/>
              </a:rPr>
              <a:t>ML-driven risk profiling and portfolio allocation for the Indian market, grounded on live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16052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5B9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5B9CF6"/>
                </a:solidFill>
                <a:latin typeface="Calibri"/>
              </a:rPr>
              <a:t>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4600" y="416052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B08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B08CF6"/>
                </a:solidFill>
                <a:latin typeface="Calibri"/>
              </a:rPr>
              <a:t>Agentic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416052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C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C8DC"/>
                </a:solidFill>
                <a:latin typeface="Calibri"/>
              </a:rPr>
              <a:t>Live Market Feed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16052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DC97"/>
                </a:solidFill>
                <a:latin typeface="Calibri"/>
              </a:rPr>
              <a:t>NLP Sentiment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846320"/>
            <a:ext cx="2377440" cy="10972"/>
          </a:xfrm>
          <a:prstGeom prst="rect">
            <a:avLst/>
          </a:prstGeom>
          <a:solidFill>
            <a:srgbClr val="1E2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50749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E6E9EF"/>
                </a:solidFill>
                <a:latin typeface="Calibri"/>
              </a:rPr>
              <a:t>Atharva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8A93A6"/>
                </a:solidFill>
                <a:latin typeface="Calibri"/>
              </a:rPr>
              <a:t>Project Based Learning,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295" y="50749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8A93A6"/>
                </a:solidFill>
                <a:latin typeface="Calibri"/>
              </a:rPr>
              <a:t>atharva.funl.bio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WHY THIS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79"/>
            <a:ext cx="45720" cy="868680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Idle savings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Most people keep money in a savings account at 3 to 4 percent. Inflation is 5 to 6 percent. Real value goes down every year.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246120"/>
            <a:ext cx="45720" cy="868680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Biased advice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Banks and apps push the products they earn commission on. Advice is not personalised.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480559"/>
            <a:ext cx="45720" cy="868680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443484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Information overload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Prices, news and market mood change daily. A normal person cannot track all of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1965960"/>
            <a:ext cx="4190695" cy="361188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35240" y="2240280"/>
            <a:ext cx="3550615" cy="3200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>
                <a:solidFill>
                  <a:srgbClr val="F2B73F"/>
                </a:solidFill>
                <a:latin typeface="Calibri"/>
              </a:rPr>
              <a:t>What the user needs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One place to enter 3 inputs and get a full plan.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A risk profile that is computed, not guessed.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Allocation across safe and growth assets.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Live prices and market sentiment in the same view.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A realistic projection with best and worst case.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INPUT, PROCESSING,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304288"/>
            <a:ext cx="45720" cy="493776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267712"/>
            <a:ext cx="2084832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Amount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INR, any value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85800" y="3200400"/>
            <a:ext cx="45720" cy="493776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3163824"/>
            <a:ext cx="2084832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Time horizon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 / 3 / 5 / 10 years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86783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85800" y="4096511"/>
            <a:ext cx="45720" cy="493776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4059935"/>
            <a:ext cx="2084832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Risk appetite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slider 0 to 100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60" y="2194560"/>
            <a:ext cx="4480560" cy="3017520"/>
          </a:xfrm>
          <a:prstGeom prst="roundRect">
            <a:avLst>
              <a:gd name="adj" fmla="val 7000"/>
            </a:avLst>
          </a:prstGeom>
          <a:solidFill>
            <a:srgbClr val="161C2A"/>
          </a:solidFill>
          <a:ln w="1524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94760" y="1874519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PROCESSING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9080" y="2423160"/>
            <a:ext cx="393192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069080" y="2532888"/>
            <a:ext cx="45720" cy="347472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251960" y="2496312"/>
            <a:ext cx="3639312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Risk Model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Logistic Regression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69080" y="3081528"/>
            <a:ext cx="393192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069080" y="3191256"/>
            <a:ext cx="45720" cy="347472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251960" y="3154680"/>
            <a:ext cx="3639312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Allocation Engine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5 asset classes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69080" y="3739896"/>
            <a:ext cx="393192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069080" y="3849624"/>
            <a:ext cx="45720" cy="347472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51960" y="3813048"/>
            <a:ext cx="3639312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Market Module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prices + news + sentiment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69080" y="4398264"/>
            <a:ext cx="393192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069080" y="4507992"/>
            <a:ext cx="45720" cy="347472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251960" y="4471416"/>
            <a:ext cx="3639312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Projection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compounding + volatility band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1874519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OUTPUT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2194560"/>
            <a:ext cx="2313432" cy="62179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9189720" y="2304288"/>
            <a:ext cx="45720" cy="40233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372600" y="2267712"/>
            <a:ext cx="2020824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Risk score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0 to 100 + label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2926080"/>
            <a:ext cx="2313432" cy="62179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189720" y="3035808"/>
            <a:ext cx="45720" cy="40233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372600" y="2999232"/>
            <a:ext cx="2020824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Portfolio split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INR and percent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3657600"/>
            <a:ext cx="2313432" cy="62179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189720" y="3767328"/>
            <a:ext cx="45720" cy="40233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72600" y="3730752"/>
            <a:ext cx="2020824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Live picks + mood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5 tickers, headlines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89720" y="4389120"/>
            <a:ext cx="2313432" cy="62179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9189720" y="4498848"/>
            <a:ext cx="45720" cy="40233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372600" y="4462272"/>
            <a:ext cx="2020824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Growth chart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mid, low, high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063240" y="2551176"/>
            <a:ext cx="73152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063240" y="3447288"/>
            <a:ext cx="73152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063240" y="4343400"/>
            <a:ext cx="73152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275320" y="2505456"/>
            <a:ext cx="9144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275320" y="3236976"/>
            <a:ext cx="9144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275320" y="3968496"/>
            <a:ext cx="9144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275320" y="4700016"/>
            <a:ext cx="9144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85800" y="562356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8A93A6"/>
                </a:solidFill>
                <a:latin typeface="Calibri"/>
              </a:rPr>
              <a:t>One POST request to /api/analyse runs all four modules and returns the complete plan as JSON.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THREE TIER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9112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CLIENT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37360" y="2148840"/>
            <a:ext cx="9768535" cy="0"/>
          </a:xfrm>
          <a:prstGeom prst="line">
            <a:avLst/>
          </a:prstGeom>
          <a:ln w="9525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3319272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API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3429000"/>
            <a:ext cx="9768535" cy="0"/>
          </a:xfrm>
          <a:prstGeom prst="line">
            <a:avLst/>
          </a:prstGeom>
          <a:ln w="9525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599432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SERVICES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37360" y="4709160"/>
            <a:ext cx="9768535" cy="0"/>
          </a:xfrm>
          <a:prstGeom prst="line">
            <a:avLst/>
          </a:prstGeom>
          <a:ln w="9525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788152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EXTERNAL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37360" y="5897880"/>
            <a:ext cx="9768535" cy="0"/>
          </a:xfrm>
          <a:prstGeom prst="line">
            <a:avLst/>
          </a:prstGeom>
          <a:ln w="9525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920240" y="1783080"/>
            <a:ext cx="4754880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920240" y="1892807"/>
            <a:ext cx="45720" cy="51206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103120" y="1856231"/>
            <a:ext cx="4462272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React + TypeScript SPA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Vite, Tailwind, Recharts, lightweight-charts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1783080"/>
            <a:ext cx="4647895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858000" y="1892807"/>
            <a:ext cx="45720" cy="51206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40880" y="1856231"/>
            <a:ext cx="4355287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Built-in assistant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chat panel, asks the AI layer about the 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20240" y="3063240"/>
            <a:ext cx="9585655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920240" y="3172968"/>
            <a:ext cx="45720" cy="51206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103120" y="3136392"/>
            <a:ext cx="9293047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FastAPI backend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POST /api/analyse   GET /api/prices   GET /api/news   POST /api/chat   Pydantic validation, CORS, serves the SPA build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4343400"/>
            <a:ext cx="1807403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920240" y="4453128"/>
            <a:ext cx="45720" cy="51206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03120" y="4416552"/>
            <a:ext cx="1514795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E6E9EF"/>
                </a:solidFill>
                <a:latin typeface="Consolas"/>
              </a:rPr>
              <a:t>risk_model.py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8A93A6"/>
                </a:solidFill>
                <a:latin typeface="Calibri"/>
              </a:rPr>
              <a:t>sklearn LogisticRegression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64803" y="4343400"/>
            <a:ext cx="1807403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3864803" y="4453128"/>
            <a:ext cx="45720" cy="51206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047683" y="4416552"/>
            <a:ext cx="1514795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E6E9EF"/>
                </a:solidFill>
                <a:latin typeface="Consolas"/>
              </a:rPr>
              <a:t>allocator.py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8A93A6"/>
                </a:solidFill>
                <a:latin typeface="Calibri"/>
              </a:rPr>
              <a:t>anchor interpolation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09366" y="4343400"/>
            <a:ext cx="1807403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809366" y="4453128"/>
            <a:ext cx="45720" cy="5120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992246" y="4416552"/>
            <a:ext cx="1514795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E6E9EF"/>
                </a:solidFill>
                <a:latin typeface="Consolas"/>
              </a:rPr>
              <a:t>projection.py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8A93A6"/>
                </a:solidFill>
                <a:latin typeface="Calibri"/>
              </a:rPr>
              <a:t>monthly compounding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53929" y="4343400"/>
            <a:ext cx="1807403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7753929" y="4453128"/>
            <a:ext cx="45720" cy="51206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36809" y="4416552"/>
            <a:ext cx="1514795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E6E9EF"/>
                </a:solidFill>
                <a:latin typeface="Consolas"/>
              </a:rPr>
              <a:t>market.py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8A93A6"/>
                </a:solidFill>
                <a:latin typeface="Calibri"/>
              </a:rPr>
              <a:t>yfinance, cache, sentiment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8492" y="4343400"/>
            <a:ext cx="1807403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9698492" y="4453128"/>
            <a:ext cx="45720" cy="51206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881372" y="4416552"/>
            <a:ext cx="1514795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E6E9EF"/>
                </a:solidFill>
                <a:latin typeface="Consolas"/>
              </a:rPr>
              <a:t>ai_layer.py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8A93A6"/>
                </a:solidFill>
                <a:latin typeface="Calibri"/>
              </a:rPr>
              <a:t>agentic harness, prompt + validate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20240" y="5532120"/>
            <a:ext cx="3751966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920240" y="5641848"/>
            <a:ext cx="45720" cy="512064"/>
          </a:xfrm>
          <a:prstGeom prst="rect">
            <a:avLst/>
          </a:prstGeom>
          <a:solidFill>
            <a:srgbClr val="8A9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2103120" y="5605272"/>
            <a:ext cx="3459358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No external dependency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risk, allocation and projection run fully in-process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09366" y="5532120"/>
            <a:ext cx="1807403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09366" y="5641848"/>
            <a:ext cx="45720" cy="512064"/>
          </a:xfrm>
          <a:prstGeom prst="rect">
            <a:avLst/>
          </a:prstGeom>
          <a:solidFill>
            <a:srgbClr val="8A9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992246" y="5605272"/>
            <a:ext cx="1514795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E6E9EF"/>
                </a:solidFill>
                <a:latin typeface="Calibri"/>
              </a:rPr>
              <a:t>fallback.json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8A93A6"/>
                </a:solidFill>
                <a:latin typeface="Calibri"/>
              </a:rPr>
              <a:t>last good prices and news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53929" y="5532120"/>
            <a:ext cx="1807403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753929" y="5641848"/>
            <a:ext cx="45720" cy="51206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936809" y="5605272"/>
            <a:ext cx="1514795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E6E9EF"/>
                </a:solidFill>
                <a:latin typeface="Calibri"/>
              </a:rPr>
              <a:t>Yahoo Finance API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8A93A6"/>
                </a:solidFill>
                <a:latin typeface="Calibri"/>
              </a:rPr>
              <a:t>NSE tickers, BTC-INR, headlines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98492" y="5532120"/>
            <a:ext cx="1807403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9698492" y="5641848"/>
            <a:ext cx="45720" cy="51206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881372" y="5605272"/>
            <a:ext cx="1514795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E6E9EF"/>
                </a:solidFill>
                <a:latin typeface="Calibri"/>
              </a:rPr>
              <a:t>Claude Sonnet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8A93A6"/>
                </a:solidFill>
                <a:latin typeface="Calibri"/>
              </a:rPr>
              <a:t>reasoning layer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297680" y="2514600"/>
            <a:ext cx="0" cy="548640"/>
          </a:xfrm>
          <a:prstGeom prst="line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181947" y="2514600"/>
            <a:ext cx="0" cy="548640"/>
          </a:xfrm>
          <a:prstGeom prst="line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823941" y="3794760"/>
            <a:ext cx="0" cy="548640"/>
          </a:xfrm>
          <a:prstGeom prst="line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768504" y="3794760"/>
            <a:ext cx="0" cy="548640"/>
          </a:xfrm>
          <a:prstGeom prst="line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713067" y="3794760"/>
            <a:ext cx="0" cy="548640"/>
          </a:xfrm>
          <a:prstGeom prst="line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657630" y="3794760"/>
            <a:ext cx="0" cy="548640"/>
          </a:xfrm>
          <a:prstGeom prst="line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602193" y="3794760"/>
            <a:ext cx="0" cy="548640"/>
          </a:xfrm>
          <a:prstGeom prst="line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657630" y="5074920"/>
            <a:ext cx="0" cy="457200"/>
          </a:xfrm>
          <a:prstGeom prst="line">
            <a:avLst/>
          </a:prstGeom>
          <a:ln w="19050">
            <a:solidFill>
              <a:srgbClr val="3DC8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602193" y="5074920"/>
            <a:ext cx="0" cy="457200"/>
          </a:xfrm>
          <a:prstGeom prst="line">
            <a:avLst/>
          </a:prstGeom>
          <a:ln w="19050">
            <a:solidFill>
              <a:srgbClr val="B08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6713067" y="5074920"/>
            <a:ext cx="1487363" cy="457200"/>
          </a:xfrm>
          <a:prstGeom prst="bentConnector3">
            <a:avLst/>
          </a:prstGeom>
          <a:ln w="19050">
            <a:solidFill>
              <a:srgbClr val="8A93A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438747" y="5138928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>
                <a:solidFill>
                  <a:srgbClr val="8A93A6"/>
                </a:solidFill>
                <a:latin typeface="Calibri"/>
              </a:rPr>
              <a:t>on failure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WHAT HAPPENS ON ONE CLICK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Request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291840" cy="9601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2121408"/>
            <a:ext cx="45720" cy="74066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2084832"/>
            <a:ext cx="299923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1  Validate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Pydantic checks amount &gt; 0, horizon in {1,3,5,10}, risk 0 to 100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77639" y="2491740"/>
            <a:ext cx="32004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2011680"/>
            <a:ext cx="3291840" cy="9601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297680" y="2121408"/>
            <a:ext cx="45720" cy="74066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80560" y="2084832"/>
            <a:ext cx="299923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2  Risk score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LogisticRegression.predict_proba -&gt; weighted score 0 to 100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589520" y="2491740"/>
            <a:ext cx="32004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9560" y="2011680"/>
            <a:ext cx="3291840" cy="9601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909560" y="2121408"/>
            <a:ext cx="45720" cy="74066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92440" y="2084832"/>
            <a:ext cx="299923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3  Allocate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Interpolate anchor weights, apply horizon rule, normalise to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94760"/>
            <a:ext cx="3291840" cy="9601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85800" y="3904488"/>
            <a:ext cx="45720" cy="7406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3867912"/>
            <a:ext cx="299923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4  Project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Compound monthly for N years, build low / mid / high band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77639" y="4274820"/>
            <a:ext cx="32004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297680" y="3794760"/>
            <a:ext cx="3291840" cy="9601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297680" y="3904488"/>
            <a:ext cx="45720" cy="74066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80560" y="3867912"/>
            <a:ext cx="299923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5  Market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Prices + news from cache or live fetch, sentiment -&gt; mood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89520" y="4274820"/>
            <a:ext cx="32004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909560" y="3794760"/>
            <a:ext cx="3291840" cy="9601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909560" y="3904488"/>
            <a:ext cx="45720" cy="74066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92440" y="3867912"/>
            <a:ext cx="299923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6  Respond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Single JSON: score, allocation, picks, news, mood, projection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555480" y="2971800"/>
            <a:ext cx="0" cy="411480"/>
          </a:xfrm>
          <a:prstGeom prst="line">
            <a:avLst/>
          </a:prstGeom>
          <a:ln w="19050">
            <a:solidFill>
              <a:srgbClr val="F2B7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331720" y="3383280"/>
            <a:ext cx="7223760" cy="0"/>
          </a:xfrm>
          <a:prstGeom prst="line">
            <a:avLst/>
          </a:prstGeom>
          <a:ln w="19050">
            <a:solidFill>
              <a:srgbClr val="F2B7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331720" y="3383280"/>
            <a:ext cx="0" cy="41148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85800" y="5074920"/>
            <a:ext cx="10820095" cy="822960"/>
          </a:xfrm>
          <a:prstGeom prst="roundRect">
            <a:avLst>
              <a:gd name="adj" fmla="val 7000"/>
            </a:avLst>
          </a:prstGeom>
          <a:solidFill>
            <a:srgbClr val="161C2A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0120" y="5184648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F2B73F"/>
                </a:solidFill>
                <a:latin typeface="Calibri"/>
              </a:rPr>
              <a:t>Cache strategy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Prices cached 60 s, news cached 600 s, guarded by a thread lock. Live fetch runs in a ThreadPoolExecutor with a 6 s timeout. On failure it falls back to fallback.json and marks the pick as not live.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RISK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Machine Learning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TRAINING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031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212848"/>
            <a:ext cx="45720" cy="64922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176272"/>
            <a:ext cx="1307592" cy="7223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Dataset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Indian Retail Investor
Risk Profile (Kaggle)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86000" y="2537460"/>
            <a:ext cx="2286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14600" y="21031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514600" y="2212848"/>
            <a:ext cx="45720" cy="64922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697480" y="2176272"/>
            <a:ext cx="1307592" cy="7223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Preprocess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log10(amount),
feature scaling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0" y="2537460"/>
            <a:ext cx="2286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343400" y="21031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343400" y="2212848"/>
            <a:ext cx="45720" cy="64922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26280" y="2176272"/>
            <a:ext cx="1307592" cy="7223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Split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80 / 20
train / test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2537460"/>
            <a:ext cx="2286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172200" y="21031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172200" y="2212848"/>
            <a:ext cx="45720" cy="64922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55080" y="2176272"/>
            <a:ext cx="1307592" cy="7223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Train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LogisticRegression
max_iter=300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0" y="2537460"/>
            <a:ext cx="2286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01000" y="21031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001000" y="2212848"/>
            <a:ext cx="45720" cy="64922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83879" y="2176272"/>
            <a:ext cx="1307592" cy="7223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Evaluate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accuracy, F1,
confusion matrix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01200" y="2537460"/>
            <a:ext cx="2286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829800" y="21031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9829800" y="2212848"/>
            <a:ext cx="45720" cy="64922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012680" y="2176272"/>
            <a:ext cx="1307592" cy="7223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in-memory model,
retrained on boot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33756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INFERENCE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657600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85800" y="3767328"/>
            <a:ext cx="45720" cy="347472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68680" y="3730752"/>
            <a:ext cx="4828031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Features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[log10(amount), horizon, risk_pref]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508760" y="4224528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85800" y="4352544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85800" y="4462272"/>
            <a:ext cx="45720" cy="347472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68680" y="4425696"/>
            <a:ext cx="4828031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predict_proba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P(Low), P(Moderate), P(High)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508760" y="4919472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85800" y="5047488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85800" y="5157216"/>
            <a:ext cx="45720" cy="34747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68680" y="5120640"/>
            <a:ext cx="4828031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Score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15·P(L) + 50·P(M) + 88·P(H)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508760" y="5614416"/>
            <a:ext cx="0" cy="128015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85800" y="5742431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85800" y="5852159"/>
            <a:ext cx="45720" cy="347472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68680" y="5815583"/>
            <a:ext cx="4828031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Label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&lt;34 Low, &lt;67 Moderate, else High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6400800" y="3611880"/>
          <a:ext cx="5102352" cy="2368296"/>
        </p:xfrm>
        <a:graphic>
          <a:graphicData uri="http://schemas.openxmlformats.org/drawingml/2006/table">
            <a:tbl>
              <a:tblPr firstRow="0" bandRow="0" firstCol="0" lastRow="0" lastCol="0"/>
              <a:tblGrid>
                <a:gridCol w="1737360"/>
                <a:gridCol w="3364992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2B73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2B73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6E9E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8A93A6"/>
                          </a:solidFill>
                          <a:latin typeface="Calibri"/>
                        </a:rPr>
                        <a:t>Logistic Regression (multinomial)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6E9E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8A93A6"/>
                          </a:solidFill>
                          <a:latin typeface="Calibri"/>
                        </a:rPr>
                        <a:t>scikit-learn 1.x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6E9EF"/>
                          </a:solidFill>
                          <a:latin typeface="Calibri"/>
                        </a:rPr>
                        <a:t>Records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8A93A6"/>
                          </a:solidFill>
                          <a:latin typeface="Calibri"/>
                        </a:rPr>
                        <a:t>2,000 investor profiles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6E9EF"/>
                          </a:solidFill>
                          <a:latin typeface="Calibri"/>
                        </a:rPr>
                        <a:t>Features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8A93A6"/>
                          </a:solidFill>
                          <a:latin typeface="Calibri"/>
                        </a:rPr>
                        <a:t>3 numeric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6E9EF"/>
                          </a:solidFill>
                          <a:latin typeface="Calibri"/>
                        </a:rPr>
                        <a:t>Classes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8A93A6"/>
                          </a:solidFill>
                          <a:latin typeface="Calibri"/>
                        </a:rPr>
                        <a:t>Low / Moderate / High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6E9EF"/>
                          </a:solidFill>
                          <a:latin typeface="Calibri"/>
                        </a:rPr>
                        <a:t>Train time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8A93A6"/>
                          </a:solidFill>
                          <a:latin typeface="Calibri"/>
                        </a:rPr>
                        <a:t>&lt; 1 second on CPU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HELD-OUT TEST SET, 400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CLASSIFICATION REPORT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148840"/>
          <a:ext cx="5852160" cy="1920240"/>
        </p:xfrm>
        <a:graphic>
          <a:graphicData uri="http://schemas.openxmlformats.org/drawingml/2006/table">
            <a:tbl>
              <a:tblPr firstRow="0" bandRow="0" firstCol="0" lastRow="0" lastCol="0"/>
              <a:tblGrid>
                <a:gridCol w="1737360"/>
                <a:gridCol w="1005840"/>
                <a:gridCol w="1005840"/>
                <a:gridCol w="1005840"/>
                <a:gridCol w="10972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Support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2B73F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0.87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2B73F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2B73F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Weighted avg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2B73F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86600" y="18288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CONFUSION MATRIX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086600" y="2148840"/>
          <a:ext cx="4416552" cy="1828800"/>
        </p:xfrm>
        <a:graphic>
          <a:graphicData uri="http://schemas.openxmlformats.org/drawingml/2006/table">
            <a:tbl>
              <a:tblPr firstRow="0" bandRow="0" firstCol="0" lastRow="0" lastCol="0"/>
              <a:tblGrid>
                <a:gridCol w="1417320"/>
                <a:gridCol w="960120"/>
                <a:gridCol w="1078992"/>
                <a:gridCol w="9601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Actual \ Pred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85800" y="4526280"/>
            <a:ext cx="2468880" cy="1005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466344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600" b="1">
                <a:solidFill>
                  <a:srgbClr val="F2B73F"/>
                </a:solidFill>
                <a:latin typeface="Calibri"/>
              </a:rPr>
              <a:t>90.5%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test 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4526280"/>
            <a:ext cx="2468880" cy="1005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11880" y="466344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600" b="1">
                <a:solidFill>
                  <a:srgbClr val="F2B73F"/>
                </a:solidFill>
                <a:latin typeface="Calibri"/>
              </a:rPr>
              <a:t>0.90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macro F1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4526280"/>
            <a:ext cx="2468880" cy="1005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9360" y="466344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600" b="1">
                <a:solidFill>
                  <a:srgbClr val="F2B73F"/>
                </a:solidFill>
                <a:latin typeface="Calibr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features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526280"/>
            <a:ext cx="2468880" cy="1005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06840" y="466344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600" b="1">
                <a:solidFill>
                  <a:srgbClr val="F2B73F"/>
                </a:solidFill>
                <a:latin typeface="Calibri"/>
              </a:rPr>
              <a:t>&lt; 1 ms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inference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6072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Most confusion is between neighbouring classes (Low vs Moderate, Moderate vs High). No Low is ever predicted as High.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RISK SCORE TO ASSET WEIGHTS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Allocation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ANCHOR TABLE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148840"/>
          <a:ext cx="6766560" cy="2414016"/>
        </p:xfrm>
        <a:graphic>
          <a:graphicData uri="http://schemas.openxmlformats.org/drawingml/2006/table">
            <a:tbl>
              <a:tblPr firstRow="0" bandRow="0" firstCol="0" lastRow="0" lastCol="0"/>
              <a:tblGrid>
                <a:gridCol w="1737360"/>
                <a:gridCol w="1005840"/>
                <a:gridCol w="1005840"/>
                <a:gridCol w="1005840"/>
                <a:gridCol w="1005840"/>
                <a:gridCol w="100584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Asset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Exp. return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Volatility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Risk 0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Risk 50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Risk 100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Bank FD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7.0%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Gold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9.0%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Nifty 50 index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12.5%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Bluechip stocks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14.0%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Crypto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25.0%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955279" y="1828800"/>
            <a:ext cx="3547872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HOW WEIGHTS ARE COMPUTED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148840"/>
            <a:ext cx="3547872" cy="603504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955279" y="2258568"/>
            <a:ext cx="45720" cy="384048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138159" y="2221992"/>
            <a:ext cx="32552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Risk score 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from ML model, 0 to 100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0" y="2752344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55279" y="2880360"/>
            <a:ext cx="3547872" cy="603504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955279" y="2990088"/>
            <a:ext cx="45720" cy="384048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38159" y="2953512"/>
            <a:ext cx="32552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Linear interpolation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between nearest two anchor rows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0" y="3483864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955279" y="3611880"/>
            <a:ext cx="3547872" cy="603504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955279" y="3721608"/>
            <a:ext cx="45720" cy="384048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38159" y="3685032"/>
            <a:ext cx="32552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Horizon rule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if 1 year: halve crypto + bluechip,
move that weight to FD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86800" y="4215384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955279" y="4343400"/>
            <a:ext cx="3547872" cy="603504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955279" y="4453128"/>
            <a:ext cx="45720" cy="384048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38159" y="4416552"/>
            <a:ext cx="32552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Normalise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weights sum to exactly 100%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6800" y="4946904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955279" y="5074920"/>
            <a:ext cx="3547872" cy="603504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955279" y="5184648"/>
            <a:ext cx="45720" cy="3840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38159" y="5148072"/>
            <a:ext cx="32552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Amount split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weight × amount, in INR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02920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E6E9EF"/>
                </a:solidFill>
                <a:latin typeface="Calibri"/>
              </a:rPr>
              <a:t>Example: risk 60 sits between anchors 50 and 100 at t = 0.2, so Nifty = 35 + (30 − 35) × 0.2 = 34%.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Expected returns are published long-run averages for each asset class.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AGENTIC HARNESS ON CLAUDE SONNET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AI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8200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The model never answers from scratch. Every call is grounded on numbers our own code computed.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146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624328"/>
            <a:ext cx="45720" cy="438912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587752"/>
            <a:ext cx="2450592" cy="5120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ML risk score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from risk_model.py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4290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85800" y="3538728"/>
            <a:ext cx="45720" cy="438912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3502152"/>
            <a:ext cx="2450592" cy="5120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Allocation + projection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from allocator / projection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85800" y="4453128"/>
            <a:ext cx="45720" cy="438912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4416552"/>
            <a:ext cx="2450592" cy="5120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Live prices + mood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from market.py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3017520"/>
            <a:ext cx="2194560" cy="1097280"/>
          </a:xfrm>
          <a:prstGeom prst="roundRect">
            <a:avLst>
              <a:gd name="adj" fmla="val 8000"/>
            </a:avLst>
          </a:prstGeom>
          <a:solidFill>
            <a:srgbClr val="161C2A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023360" y="3127248"/>
            <a:ext cx="45720" cy="87782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06240" y="3090672"/>
            <a:ext cx="1901952" cy="9509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Structured prompt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system rules + JSON context
+ user question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29000" y="2843784"/>
            <a:ext cx="594360" cy="722376"/>
          </a:xfrm>
          <a:prstGeom prst="bentConnector3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429000" y="3566160"/>
            <a:ext cx="594360" cy="192024"/>
          </a:xfrm>
          <a:prstGeom prst="bentConnector3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429000" y="3566160"/>
            <a:ext cx="594360" cy="1106424"/>
          </a:xfrm>
          <a:prstGeom prst="bentConnector3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12280" y="3017520"/>
            <a:ext cx="2194560" cy="1097280"/>
          </a:xfrm>
          <a:prstGeom prst="roundRect">
            <a:avLst>
              <a:gd name="adj" fmla="val 8000"/>
            </a:avLst>
          </a:prstGeom>
          <a:solidFill>
            <a:srgbClr val="161C2A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812280" y="3127248"/>
            <a:ext cx="45720" cy="87782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95160" y="3090672"/>
            <a:ext cx="1901952" cy="9509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Claude Sonnet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reasoning layer
temperature 0, JSON output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17920" y="3566160"/>
            <a:ext cx="59436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601200" y="30175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161C2A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601200" y="3127248"/>
            <a:ext cx="45720" cy="87782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784080" y="3090672"/>
            <a:ext cx="1609344" cy="9509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Validation gate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schema check, numbers must
match our computed values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06840" y="3566160"/>
            <a:ext cx="59436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01200" y="4572000"/>
            <a:ext cx="1901952" cy="6400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601200" y="4681728"/>
            <a:ext cx="45720" cy="420623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784080" y="4645152"/>
            <a:ext cx="1609344" cy="4937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Answer to user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chat panel in the app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552176" y="4114800"/>
            <a:ext cx="0" cy="457200"/>
          </a:xfrm>
          <a:prstGeom prst="line">
            <a:avLst/>
          </a:prstGeom>
          <a:ln w="19050">
            <a:solidFill>
              <a:srgbClr val="3DDC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875520" y="4114800"/>
            <a:ext cx="0" cy="320040"/>
          </a:xfrm>
          <a:prstGeom prst="line">
            <a:avLst/>
          </a:prstGeom>
          <a:ln w="19050">
            <a:solidFill>
              <a:srgbClr val="FF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909560" y="4434840"/>
            <a:ext cx="1965960" cy="0"/>
          </a:xfrm>
          <a:prstGeom prst="line">
            <a:avLst/>
          </a:prstGeom>
          <a:ln w="19050">
            <a:solidFill>
              <a:srgbClr val="FF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909560" y="4114800"/>
            <a:ext cx="0" cy="320040"/>
          </a:xfrm>
          <a:prstGeom prst="line">
            <a:avLst/>
          </a:prstGeom>
          <a:ln w="19050">
            <a:solidFill>
              <a:srgbClr val="FF6B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995160" y="4160520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FF6B6B"/>
                </a:solidFill>
                <a:latin typeface="Calibri"/>
              </a:rPr>
              <a:t>retry on invalid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4406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F2B73F"/>
                </a:solidFill>
                <a:latin typeface="Calibri"/>
              </a:rPr>
              <a:t>Grounding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All numbers come from our code, the model only explains and combines.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25112" y="54406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F2B73F"/>
                </a:solidFill>
                <a:latin typeface="Calibri"/>
              </a:rPr>
              <a:t>Prompt engineering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Fixed system prompt, few-shot examples, strict JSON schema for output.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4424" y="54406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F2B73F"/>
                </a:solidFill>
                <a:latin typeface="Calibri"/>
              </a:rPr>
              <a:t>No hallucination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Validation rejects any answer whose numbers differ from ours.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MARKET.PY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Live Market Data &amp; Sentiment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PRICE FEED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0312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212848"/>
            <a:ext cx="45720" cy="55778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17627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Request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5 tickers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51760" y="2491739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98648" y="210312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898648" y="2212848"/>
            <a:ext cx="45720" cy="55778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81528" y="217627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Cache?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TTL 60 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64608" y="2491739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11496" y="210312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111496" y="2212848"/>
            <a:ext cx="45720" cy="55778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294376" y="217627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yfinance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ThreadPool ×5
6 s timeout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77456" y="2491739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24344" y="210312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324344" y="2212848"/>
            <a:ext cx="45720" cy="557784"/>
          </a:xfrm>
          <a:prstGeom prst="rect">
            <a:avLst/>
          </a:prstGeom>
          <a:solidFill>
            <a:srgbClr val="8A9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507223" y="217627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fallback.json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on any failure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290304" y="2491739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537192" y="210312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9537192" y="2212848"/>
            <a:ext cx="45720" cy="55778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20072" y="217627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Response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price, Δ%, live flag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3881628" y="1920239"/>
            <a:ext cx="0" cy="182881"/>
          </a:xfrm>
          <a:prstGeom prst="line">
            <a:avLst/>
          </a:prstGeom>
          <a:ln w="19050">
            <a:solidFill>
              <a:srgbClr val="3DDC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81628" y="1920239"/>
            <a:ext cx="6638544" cy="0"/>
          </a:xfrm>
          <a:prstGeom prst="line">
            <a:avLst/>
          </a:prstGeom>
          <a:ln w="19050">
            <a:solidFill>
              <a:srgbClr val="3DDC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520172" y="1920239"/>
            <a:ext cx="0" cy="182881"/>
          </a:xfrm>
          <a:prstGeom prst="line">
            <a:avLst/>
          </a:prstGeom>
          <a:ln w="19050">
            <a:solidFill>
              <a:srgbClr val="3DDC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064508" y="171907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3DDC97"/>
                </a:solidFill>
                <a:latin typeface="Calibri"/>
              </a:rPr>
              <a:t>cache hit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2461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NEWS SENTIMENT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56616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85800" y="3675887"/>
            <a:ext cx="45720" cy="55778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68680" y="363931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Fetch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^NSEI + RELIANCE.NS
TTL 600 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651760" y="3954780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898648" y="356616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898648" y="3675887"/>
            <a:ext cx="45720" cy="55778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081528" y="363931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Normalise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title, source,
url, timestamp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864608" y="3954780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111496" y="356616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111496" y="3675887"/>
            <a:ext cx="45720" cy="55778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294376" y="363931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Lexicon score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+1 positive word
−1 negative word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077456" y="3954780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324344" y="356616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7324344" y="3675887"/>
            <a:ext cx="45720" cy="55778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507223" y="363931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Label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positive / neutral /
negative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290304" y="3954780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9537192" y="356616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9537192" y="3675887"/>
            <a:ext cx="45720" cy="55778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720072" y="363931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Market mood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avg score → Optimistic /
Steady / Cautious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685800" y="4709160"/>
          <a:ext cx="6766560" cy="1645920"/>
        </p:xfrm>
        <a:graphic>
          <a:graphicData uri="http://schemas.openxmlformats.org/drawingml/2006/table">
            <a:tbl>
              <a:tblPr firstRow="0" bandRow="0" firstCol="0" lastRow="0" lastCol="0"/>
              <a:tblGrid>
                <a:gridCol w="1737360"/>
                <a:gridCol w="2194560"/>
                <a:gridCol w="283464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RELIANCE.NS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Reliance Industries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largest NSE company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TCS.NS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Tata Consultancy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biggest IT exporter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HDFCBANK.NS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HDFC Bank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largest private bank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GOLDBEES.NS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Nippon Gold ETF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gold in demat form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BTC-INR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Bitcoin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most volatile pick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50" name="Picture 49" descr="screenshot-mar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617720"/>
            <a:ext cx="3730752" cy="2215134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PROJECTION.PY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Growth Projection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F2B73F"/>
                </a:solidFill>
                <a:latin typeface="Calibri"/>
              </a:rPr>
              <a:t>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394960" cy="1417320"/>
          </a:xfrm>
          <a:prstGeom prst="roundRect">
            <a:avLst>
              <a:gd name="adj" fmla="val 7000"/>
            </a:avLst>
          </a:prstGeom>
          <a:solidFill>
            <a:srgbClr val="161C2A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E6E9EF"/>
                </a:solidFill>
                <a:latin typeface="Consolas"/>
              </a:rPr>
              <a:t>r  = Σ weightᵢ × returnᵢ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E6E9EF"/>
                </a:solidFill>
                <a:latin typeface="Consolas"/>
              </a:rPr>
              <a:t>σ  = 0.7 × Σ weightᵢ × volatilityᵢ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E6E9EF"/>
                </a:solidFill>
                <a:latin typeface="Consolas"/>
              </a:rPr>
              <a:t>V(m) = amount × (1 + r)^(m / 12)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onsolas"/>
              </a:rPr>
              <a:t>band: r − σ  (low)   r + σ  (high)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93192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85800" y="4041648"/>
            <a:ext cx="45720" cy="28346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4005072"/>
            <a:ext cx="5102352" cy="3566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Portfolio return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weighted sum of expected returns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20" y="4434840"/>
            <a:ext cx="0" cy="91439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452628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85800" y="4636008"/>
            <a:ext cx="45720" cy="28346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4599432"/>
            <a:ext cx="5102352" cy="3566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Portfolio risk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weighted volatility × 0.7 diversification discount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20" y="5029200"/>
            <a:ext cx="0" cy="9144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512064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85800" y="5230368"/>
            <a:ext cx="45720" cy="28346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5193792"/>
            <a:ext cx="5102352" cy="3566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Monthly compounding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one point per month for N years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17320" y="5623560"/>
            <a:ext cx="0" cy="9144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571500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85800" y="5824728"/>
            <a:ext cx="45720" cy="2834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5788152"/>
            <a:ext cx="5102352" cy="3566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Three curves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mid, low, high, plus final CAGR</a:t>
            </a:r>
          </a:p>
        </p:txBody>
      </p:sp>
      <p:pic>
        <p:nvPicPr>
          <p:cNvPr id="23" name="Picture 22" descr="screenshot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74519"/>
            <a:ext cx="5102352" cy="302952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0" y="5394960"/>
            <a:ext cx="510235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Example: 1 lakh, 5 years, risk 60 → r ≈ 12.4%, final ≈ 1.79 lakh, band 1.3 to 2.4 lakh.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REST ENDPOINTS, JSON IN AND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API Contract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37360"/>
          <a:ext cx="10817352" cy="2048256"/>
        </p:xfrm>
        <a:graphic>
          <a:graphicData uri="http://schemas.openxmlformats.org/drawingml/2006/table">
            <a:tbl>
              <a:tblPr firstRow="0" bandRow="0" firstCol="0" lastRow="0" lastCol="0"/>
              <a:tblGrid>
                <a:gridCol w="822960"/>
                <a:gridCol w="1554480"/>
                <a:gridCol w="3108960"/>
                <a:gridCol w="533095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Body / Params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Returns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/api/health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{ ok: true }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/api/analyse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amount, horizon_years, risk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full plan (score, allocation, picks, news, projection)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/api/prices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5 picks with price, change %, live flag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/api/news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headlines + market_mood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/api/chat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question, plan context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grounded answer from AI layer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/{path}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SPA fallback, serves dist/index.html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85800" y="4114800"/>
            <a:ext cx="3840480" cy="2240280"/>
          </a:xfrm>
          <a:prstGeom prst="roundRect">
            <a:avLst>
              <a:gd name="adj" fmla="val 5000"/>
            </a:avLst>
          </a:prstGeom>
          <a:solidFill>
            <a:srgbClr val="070A10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3108960" y="4224528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5B9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5B9CF6"/>
                </a:solidFill>
                <a:latin typeface="Calibri"/>
              </a:rPr>
              <a:t>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279392"/>
            <a:ext cx="3438144" cy="1965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POST /api/analyse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{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  "amount": 100000,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  "horizon_years": 5,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  "risk": 60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4114800"/>
            <a:ext cx="6796735" cy="2240280"/>
          </a:xfrm>
          <a:prstGeom prst="roundRect">
            <a:avLst>
              <a:gd name="adj" fmla="val 5000"/>
            </a:avLst>
          </a:prstGeom>
          <a:solidFill>
            <a:srgbClr val="070A10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0088575" y="4224528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DC97"/>
                </a:solidFill>
                <a:latin typeface="Calibri"/>
              </a:rPr>
              <a:t>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0328" y="4279392"/>
            <a:ext cx="6394399" cy="1965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E6E9EF"/>
                </a:solidFill>
                <a:latin typeface="Consolas"/>
              </a:rPr>
              <a:t>200 OK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E6E9EF"/>
                </a:solidFill>
                <a:latin typeface="Consolas"/>
              </a:rPr>
              <a:t>{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E6E9EF"/>
                </a:solidFill>
                <a:latin typeface="Consolas"/>
              </a:rPr>
              <a:t>  "risk_score": 58,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E6E9EF"/>
                </a:solidFill>
                <a:latin typeface="Consolas"/>
              </a:rPr>
              <a:t>  "risk_label": "Moderate",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E6E9EF"/>
                </a:solidFill>
                <a:latin typeface="Consolas"/>
              </a:rPr>
              <a:t>  "allocation": [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E6E9EF"/>
                </a:solidFill>
                <a:latin typeface="Consolas"/>
              </a:rPr>
              <a:t>    {"key": "nifty", "weight": 0.34, "amount": 34000, ...},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E6E9EF"/>
                </a:solidFill>
                <a:latin typeface="Consolas"/>
              </a:rPr>
              <a:t>    ...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E6E9EF"/>
                </a:solidFill>
                <a:latin typeface="Consolas"/>
              </a:rPr>
              <a:t>  ],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E6E9EF"/>
                </a:solidFill>
                <a:latin typeface="Consolas"/>
              </a:rPr>
              <a:t>  "picks":      [{"ticker": "RELIANCE.NS", "price": 2948.6, "live": true}, ...],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E6E9EF"/>
                </a:solidFill>
                <a:latin typeface="Consolas"/>
              </a:rPr>
              <a:t>  "market_mood": {"label": "Optimistic", "score": 0.375},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E6E9EF"/>
                </a:solidFill>
                <a:latin typeface="Consolas"/>
              </a:rPr>
              <a:t>  "projection": {"final": 179000, "final_low": 131000,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E6E9EF"/>
                </a:solidFill>
                <a:latin typeface="Consolas"/>
              </a:rPr>
              <a:t>                 "final_high": 243000, "cagr": 0.124, "points": [...]}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E6E9EF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22191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Pydantic model: amount &gt; 0, horizon_years in Literal[1, 3, 5, 10], risk in 0..100. Invalid input returns 422 automatically.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POST /API/ANALYSE, WARM CACHE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Sequence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5B9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5B9CF6"/>
                </a:solidFill>
                <a:latin typeface="Calibri"/>
              </a:rPr>
              <a:t>Browser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71600" y="2121408"/>
            <a:ext cx="0" cy="3685032"/>
          </a:xfrm>
          <a:prstGeom prst="line">
            <a:avLst/>
          </a:prstGeom>
          <a:ln w="12700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97709" y="182880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2B73F"/>
                </a:solidFill>
                <a:latin typeface="Calibri"/>
              </a:rPr>
              <a:t>FastAPI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46349" y="2121408"/>
            <a:ext cx="0" cy="3685032"/>
          </a:xfrm>
          <a:prstGeom prst="line">
            <a:avLst/>
          </a:prstGeom>
          <a:ln w="12700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972458" y="182880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5B9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5B9CF6"/>
                </a:solidFill>
                <a:latin typeface="Calibri"/>
              </a:rPr>
              <a:t>risk_model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21098" y="2121408"/>
            <a:ext cx="0" cy="3685032"/>
          </a:xfrm>
          <a:prstGeom prst="line">
            <a:avLst/>
          </a:prstGeom>
          <a:ln w="12700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547207" y="182880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B08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B08CF6"/>
                </a:solidFill>
                <a:latin typeface="Calibri"/>
              </a:rPr>
              <a:t>allocator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2121408"/>
            <a:ext cx="0" cy="3685032"/>
          </a:xfrm>
          <a:prstGeom prst="line">
            <a:avLst/>
          </a:prstGeom>
          <a:ln w="12700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21956" y="182880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DC97"/>
                </a:solidFill>
                <a:latin typeface="Calibri"/>
              </a:rPr>
              <a:t>projection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70596" y="2121408"/>
            <a:ext cx="0" cy="3685032"/>
          </a:xfrm>
          <a:prstGeom prst="line">
            <a:avLst/>
          </a:prstGeom>
          <a:ln w="12700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96706" y="182880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C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C8DC"/>
                </a:solidFill>
                <a:latin typeface="Calibri"/>
              </a:rPr>
              <a:t>market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245346" y="2121408"/>
            <a:ext cx="0" cy="3685032"/>
          </a:xfrm>
          <a:prstGeom prst="line">
            <a:avLst/>
          </a:prstGeom>
          <a:ln w="12700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271455" y="182880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8A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8A93A6"/>
                </a:solidFill>
                <a:latin typeface="Calibri"/>
              </a:rPr>
              <a:t>yfinance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820095" y="2121408"/>
            <a:ext cx="0" cy="3685032"/>
          </a:xfrm>
          <a:prstGeom prst="line">
            <a:avLst/>
          </a:prstGeom>
          <a:ln w="12700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2468880"/>
            <a:ext cx="1574749" cy="0"/>
          </a:xfrm>
          <a:prstGeom prst="line">
            <a:avLst/>
          </a:prstGeom>
          <a:ln w="15875">
            <a:solidFill>
              <a:srgbClr val="5B9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63040" y="2249424"/>
            <a:ext cx="41148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9CF6"/>
                </a:solidFill>
                <a:latin typeface="Calibri"/>
              </a:rPr>
              <a:t>POST /api/analyse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46349" y="2816352"/>
            <a:ext cx="1574749" cy="0"/>
          </a:xfrm>
          <a:prstGeom prst="line">
            <a:avLst/>
          </a:prstGeom>
          <a:ln w="15875">
            <a:solidFill>
              <a:srgbClr val="E6E9E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037789" y="2596896"/>
            <a:ext cx="41148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alibri"/>
              </a:rPr>
              <a:t>score(amount, horizon, risk)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946349" y="3090672"/>
            <a:ext cx="1574749" cy="0"/>
          </a:xfrm>
          <a:prstGeom prst="line">
            <a:avLst/>
          </a:prstGeom>
          <a:ln w="15875">
            <a:solidFill>
              <a:srgbClr val="5B9CF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37789" y="2871215"/>
            <a:ext cx="41148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9CF6"/>
                </a:solidFill>
                <a:latin typeface="Calibri"/>
              </a:rPr>
              <a:t>risk_score, label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46349" y="3438144"/>
            <a:ext cx="3149498" cy="0"/>
          </a:xfrm>
          <a:prstGeom prst="line">
            <a:avLst/>
          </a:prstGeom>
          <a:ln w="15875">
            <a:solidFill>
              <a:srgbClr val="E6E9E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37789" y="3218687"/>
            <a:ext cx="41148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alibri"/>
              </a:rPr>
              <a:t>allocate(risk_score, horizon)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946349" y="3712463"/>
            <a:ext cx="3149498" cy="0"/>
          </a:xfrm>
          <a:prstGeom prst="line">
            <a:avLst/>
          </a:prstGeom>
          <a:ln w="15875">
            <a:solidFill>
              <a:srgbClr val="B08CF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037789" y="3493007"/>
            <a:ext cx="41148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B08CF6"/>
                </a:solidFill>
                <a:latin typeface="Calibri"/>
              </a:rPr>
              <a:t>weights[5]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946349" y="4059935"/>
            <a:ext cx="4724247" cy="0"/>
          </a:xfrm>
          <a:prstGeom prst="line">
            <a:avLst/>
          </a:prstGeom>
          <a:ln w="15875">
            <a:solidFill>
              <a:srgbClr val="E6E9E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037789" y="3840479"/>
            <a:ext cx="41148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alibri"/>
              </a:rPr>
              <a:t>project(amount, allocation, horizon)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2946349" y="4334255"/>
            <a:ext cx="4724247" cy="0"/>
          </a:xfrm>
          <a:prstGeom prst="line">
            <a:avLst/>
          </a:prstGeom>
          <a:ln w="15875">
            <a:solidFill>
              <a:srgbClr val="3DDC9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037789" y="4114799"/>
            <a:ext cx="41148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3DDC97"/>
                </a:solidFill>
                <a:latin typeface="Calibri"/>
              </a:rPr>
              <a:t>points, final, cagr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46349" y="4681727"/>
            <a:ext cx="6298997" cy="0"/>
          </a:xfrm>
          <a:prstGeom prst="line">
            <a:avLst/>
          </a:prstGeom>
          <a:ln w="15875">
            <a:solidFill>
              <a:srgbClr val="E6E9E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037789" y="4462271"/>
            <a:ext cx="41148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alibri"/>
              </a:rPr>
              <a:t>get_prices() / get_news()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245346" y="4956047"/>
            <a:ext cx="1574749" cy="0"/>
          </a:xfrm>
          <a:prstGeom prst="line">
            <a:avLst/>
          </a:prstGeom>
          <a:ln w="15875">
            <a:solidFill>
              <a:srgbClr val="8A93A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336786" y="4736591"/>
            <a:ext cx="41148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fast_info, news (cache miss only)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2946349" y="5230367"/>
            <a:ext cx="6298997" cy="0"/>
          </a:xfrm>
          <a:prstGeom prst="line">
            <a:avLst/>
          </a:prstGeom>
          <a:ln w="15875">
            <a:solidFill>
              <a:srgbClr val="3DC8D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037789" y="5010911"/>
            <a:ext cx="41148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3DC8DC"/>
                </a:solidFill>
                <a:latin typeface="Calibri"/>
              </a:rPr>
              <a:t>picks, news, mood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1371600" y="5577839"/>
            <a:ext cx="1574749" cy="0"/>
          </a:xfrm>
          <a:prstGeom prst="line">
            <a:avLst/>
          </a:prstGeom>
          <a:ln w="15875">
            <a:solidFill>
              <a:srgbClr val="5B9CF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463040" y="5358383"/>
            <a:ext cx="41148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9CF6"/>
                </a:solidFill>
                <a:latin typeface="Calibri"/>
              </a:rPr>
              <a:t>200 OK JSON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12648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Solid = call, dashed = return. Warm-cache round trip is ~15 ms; a cold cache adds one yfinance fetch (~1 to 3 s) bounded by a 6 s timeout.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TWO FUNCTIONS CARRY THE WHOLE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Core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394960" cy="2514600"/>
          </a:xfrm>
          <a:prstGeom prst="roundRect">
            <a:avLst>
              <a:gd name="adj" fmla="val 5000"/>
            </a:avLst>
          </a:prstGeom>
          <a:solidFill>
            <a:srgbClr val="070A10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663440" y="1892807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5B9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5B9CF6"/>
                </a:solidFill>
                <a:latin typeface="Calibri"/>
              </a:rPr>
              <a:t>risk_model.py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947672"/>
            <a:ext cx="4992624" cy="2240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def score(amount, horizon_years, risk_pref):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    amount_log = np.log10(max(amount, 1000.0))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    row = np.array([[amount_log, horizon_years, risk_pref]])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    p_low, p_mod, p_high = _MODEL.predict_proba(row)[0]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    raw = p_low * 15 + p_mod * 50 + p_high * 88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    risk_score = int(round(min(100, max(0, raw))))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    label = _label_for(risk_score)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    return risk_score, label, SENTENCES[label]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242255" cy="1874519"/>
          </a:xfrm>
          <a:prstGeom prst="roundRect">
            <a:avLst>
              <a:gd name="adj" fmla="val 5000"/>
            </a:avLst>
          </a:prstGeom>
          <a:solidFill>
            <a:srgbClr val="070A10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088575" y="1892807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B08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B08CF6"/>
                </a:solidFill>
                <a:latin typeface="Calibri"/>
              </a:rPr>
              <a:t>allocator.py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7" y="1947672"/>
            <a:ext cx="4839919" cy="16001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def _interpolate(risk_score):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    risk = min(100.0, max(0.0, risk_score))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    if risk &lt;= 50.0: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        low, high, t = ANCHORS[0], ANCHORS[50], risk / 50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    else: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        low, high, t = ANCHORS[50], ANCHORS[100], (risk - 50) / 50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    return {k: low[k] + (high[k] - low[k]) * t for k in ORDER}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794760"/>
            <a:ext cx="5242255" cy="777240"/>
          </a:xfrm>
          <a:prstGeom prst="roundRect">
            <a:avLst>
              <a:gd name="adj" fmla="val 5000"/>
            </a:avLst>
          </a:prstGeom>
          <a:solidFill>
            <a:srgbClr val="070A10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10088575" y="3904488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DC97"/>
                </a:solidFill>
                <a:latin typeface="Calibri"/>
              </a:rPr>
              <a:t>projection.py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3959352"/>
            <a:ext cx="483991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monthly = (1 + annual_return) ** (1 / 12)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onsolas"/>
              </a:rPr>
              <a:t>values  = [amount * monthly ** m for m in range(months + 1)]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262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F2B73F"/>
                </a:solidFill>
                <a:latin typeface="Calibri"/>
              </a:rPr>
              <a:t>Probability-weighted score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Instead of argmax we blend class probabilities, so the score moves smoothly with the inputs.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0932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F2B73F"/>
                </a:solidFill>
                <a:latin typeface="Calibri"/>
              </a:rPr>
              <a:t>Piecewise linear interpolation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Three anchor portfolios, weights interpolated between them. O(1), no lookup table.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66013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F2B73F"/>
                </a:solidFill>
                <a:latin typeface="Calibri"/>
              </a:rPr>
              <a:t>Geometric compounding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Annual rate converted to monthly, one point per month for the chart.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Tech Stack &amp; 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56231"/>
            <a:ext cx="11887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9CF6"/>
                </a:solidFill>
                <a:latin typeface="Calibri"/>
              </a:rPr>
              <a:t>FRONTEND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1783080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5B9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5B9CF6"/>
                </a:solidFill>
                <a:latin typeface="Calibri"/>
              </a:rPr>
              <a:t>React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86" y="1783080"/>
            <a:ext cx="841247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5B9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5B9CF6"/>
                </a:solidFill>
                <a:latin typeface="Calibri"/>
              </a:rPr>
              <a:t>TypeScript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4486" y="1783080"/>
            <a:ext cx="446227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5B9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5B9CF6"/>
                </a:solidFill>
                <a:latin typeface="Calibri"/>
              </a:rPr>
              <a:t>Vite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53865" y="1783080"/>
            <a:ext cx="972921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5B9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5B9CF6"/>
                </a:solidFill>
                <a:latin typeface="Calibri"/>
              </a:rPr>
              <a:t>Tailwind CSS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99939" y="1783080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5B9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5B9CF6"/>
                </a:solidFill>
                <a:latin typeface="Calibri"/>
              </a:rPr>
              <a:t>Recharts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7360" y="2130552"/>
            <a:ext cx="1367942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5B9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5B9CF6"/>
                </a:solidFill>
                <a:latin typeface="Calibri"/>
              </a:rPr>
              <a:t>lightweight-charts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24328"/>
            <a:ext cx="11887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F2B73F"/>
                </a:solidFill>
                <a:latin typeface="Calibri"/>
              </a:rPr>
              <a:t>BACKEND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37360" y="2551176"/>
            <a:ext cx="907084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2B73F"/>
                </a:solidFill>
                <a:latin typeface="Calibri"/>
              </a:rPr>
              <a:t>Python 3.12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17596" y="2551176"/>
            <a:ext cx="643737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2B73F"/>
                </a:solidFill>
                <a:latin typeface="Calibri"/>
              </a:rPr>
              <a:t>FastAPI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34486" y="2551176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2B73F"/>
                </a:solidFill>
                <a:latin typeface="Calibri"/>
              </a:rPr>
              <a:t>Pydantic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17212" y="2551176"/>
            <a:ext cx="643737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2B73F"/>
                </a:solidFill>
                <a:latin typeface="Calibri"/>
              </a:rPr>
              <a:t>Uvicorn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4102" y="2551176"/>
            <a:ext cx="1367942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2B73F"/>
                </a:solidFill>
                <a:latin typeface="Calibri"/>
              </a:rPr>
              <a:t>ThreadPoolExecutor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11887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B08CF6"/>
                </a:solidFill>
                <a:latin typeface="Calibri"/>
              </a:rPr>
              <a:t>ML /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37360" y="2971800"/>
            <a:ext cx="972921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B08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B08CF6"/>
                </a:solidFill>
                <a:latin typeface="Calibri"/>
              </a:rPr>
              <a:t>scikit-learn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83433" y="2971800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B08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B08CF6"/>
                </a:solidFill>
                <a:latin typeface="Calibri"/>
              </a:rPr>
              <a:t>NumPy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68649" y="2971800"/>
            <a:ext cx="1433779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B08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B08CF6"/>
                </a:solidFill>
                <a:latin typeface="Calibri"/>
              </a:rPr>
              <a:t>Logistic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75580" y="2971800"/>
            <a:ext cx="1038758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B08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B08CF6"/>
                </a:solidFill>
                <a:latin typeface="Calibri"/>
              </a:rPr>
              <a:t>Claude Sonnet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37360" y="3319272"/>
            <a:ext cx="1170431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B08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B08CF6"/>
                </a:solidFill>
                <a:latin typeface="Calibri"/>
              </a:rPr>
              <a:t>agentic harness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13048"/>
            <a:ext cx="11887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3DC8DC"/>
                </a:solidFill>
                <a:latin typeface="Calibri"/>
              </a:rPr>
              <a:t>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737360" y="3739896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C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C8DC"/>
                </a:solidFill>
                <a:latin typeface="Calibri"/>
              </a:rPr>
              <a:t>yfinance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20086" y="3739896"/>
            <a:ext cx="1302105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C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C8DC"/>
                </a:solidFill>
                <a:latin typeface="Calibri"/>
              </a:rPr>
              <a:t>Yahoo Finance 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95344" y="3739896"/>
            <a:ext cx="775411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C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C8DC"/>
                </a:solidFill>
                <a:latin typeface="Calibri"/>
              </a:rPr>
              <a:t>TTL cache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43907" y="3739896"/>
            <a:ext cx="1038758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C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C8DC"/>
                </a:solidFill>
                <a:latin typeface="Calibri"/>
              </a:rPr>
              <a:t>fallback.json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37360" y="4087368"/>
            <a:ext cx="907084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C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C8DC"/>
                </a:solidFill>
                <a:latin typeface="Calibri"/>
              </a:rPr>
              <a:t>lexicon NLP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81144"/>
            <a:ext cx="11887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3DDC97"/>
                </a:solidFill>
                <a:latin typeface="Calibri"/>
              </a:rPr>
              <a:t>TOOLING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37360" y="4507992"/>
            <a:ext cx="972921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DC97"/>
                </a:solidFill>
                <a:latin typeface="Calibri"/>
              </a:rPr>
              <a:t>Git / GitHub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83433" y="4507992"/>
            <a:ext cx="577900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DC97"/>
                </a:solidFill>
                <a:latin typeface="Calibri"/>
              </a:rPr>
              <a:t>oxlint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34486" y="4507992"/>
            <a:ext cx="380390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DC97"/>
                </a:solidFill>
                <a:latin typeface="Calibri"/>
              </a:rPr>
              <a:t>npm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88028" y="4507992"/>
            <a:ext cx="446227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DC97"/>
                </a:solidFill>
                <a:latin typeface="Calibri"/>
              </a:rPr>
              <a:t>venv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07407" y="4507992"/>
            <a:ext cx="907084" cy="256032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DC97"/>
                </a:solidFill>
                <a:latin typeface="Calibri"/>
              </a:rPr>
              <a:t>python-pptx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49440" y="1783080"/>
            <a:ext cx="4556455" cy="4434840"/>
          </a:xfrm>
          <a:prstGeom prst="roundRect">
            <a:avLst>
              <a:gd name="adj" fmla="val 5000"/>
            </a:avLst>
          </a:prstGeom>
          <a:solidFill>
            <a:srgbClr val="070A10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10088575" y="1892807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8A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8A93A6"/>
                </a:solidFill>
                <a:latin typeface="Calibri"/>
              </a:rPr>
              <a:t>tree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50607" y="1947672"/>
            <a:ext cx="4154119" cy="4160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finance-goenka/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├── backend/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│   ├── main.py          # FastAPI app, routes, SPA mount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│   ├── risk_model.py    # sklearn LogisticRegression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│   ├── allocator.py     # anchor interpolation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│   ├── projection.py    # compounding + band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│   ├── market.py        # yfinance, cache, sentiment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│   ├── ai_layer.py      # prompt builder + validation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│   └── data/fallback.json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├── frontend/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│   ├── src/App.tsx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│   ├── src/components/  # Header, RiskSlider, Charts, Chat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│   ├── src/lib/api.ts   # typed fetch client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│   └── vite.config.ts   # proxy /api -&gt; :8000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E6E9EF"/>
                </a:solidFill>
                <a:latin typeface="Consolas"/>
              </a:rPr>
              <a:t>└── docs/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065776"/>
            <a:ext cx="59436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F2B73F"/>
                </a:solidFill>
                <a:latin typeface="Calibri"/>
              </a:rPr>
              <a:t>Design choices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E6E9EF"/>
                </a:solidFill>
                <a:latin typeface="Calibri"/>
              </a:rPr>
              <a:t>Single FastAPI process serves both the API and the built SPA, so deployment is one command.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E6E9EF"/>
                </a:solidFill>
                <a:latin typeface="Calibri"/>
              </a:rPr>
              <a:t>Each backend concern is one module with one public function. Easy to unit test and swap.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E6E9EF"/>
                </a:solidFill>
                <a:latin typeface="Calibri"/>
              </a:rPr>
              <a:t>Frontend types mirror the Pydantic models, so the API contract is checked at compile time.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E6E9EF"/>
                </a:solidFill>
                <a:latin typeface="Calibri"/>
              </a:rPr>
              <a:t>Model is trained at import time (seed 42), so every boot is reproducible with no pickle file.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Performance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LATENCY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103120"/>
          <a:ext cx="6400800" cy="2432304"/>
        </p:xfrm>
        <a:graphic>
          <a:graphicData uri="http://schemas.openxmlformats.org/drawingml/2006/table">
            <a:tbl>
              <a:tblPr firstRow="0" bandRow="0" firstCol="0" lastRow="0" lastCol="0"/>
              <a:tblGrid>
                <a:gridCol w="2103120"/>
                <a:gridCol w="1005840"/>
                <a:gridCol w="1005840"/>
                <a:gridCol w="22860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Cold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Warm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Model training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~40 ms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once, at startup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Risk inference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&lt; 1 ms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single predict_proba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Allocation + projection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&lt; 1 ms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pure Python, 120 points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Price fetch (5 tickers)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1 to 3 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&lt; 1 ms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parallel, 60 s TTL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News fetch + sentiment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1 to 2 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&lt; 1 ms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600 s TTL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POST /api/analyse total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~3 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~15 ms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first hit warms cache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0" y="178308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DEPLOY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2103120"/>
            <a:ext cx="3916375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589520" y="2212848"/>
            <a:ext cx="45720" cy="347472"/>
          </a:xfrm>
          <a:prstGeom prst="rect">
            <a:avLst/>
          </a:prstGeom>
          <a:solidFill>
            <a:srgbClr val="8A9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0" y="2176272"/>
            <a:ext cx="3623767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E6E9EF"/>
                </a:solidFill>
                <a:latin typeface="Consolas"/>
              </a:rPr>
              <a:t>git push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GitHub main branch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321040" y="2670048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589520" y="2798063"/>
            <a:ext cx="3916375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589520" y="2907791"/>
            <a:ext cx="45720" cy="347472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0" y="2871215"/>
            <a:ext cx="3623767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E6E9EF"/>
                </a:solidFill>
                <a:latin typeface="Consolas"/>
              </a:rPr>
              <a:t>npm run build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Vite -&gt; frontend/dist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321040" y="3364991"/>
            <a:ext cx="0" cy="128017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589520" y="3493007"/>
            <a:ext cx="3916375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7589520" y="3602735"/>
            <a:ext cx="45720" cy="34747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0" y="3566159"/>
            <a:ext cx="3623767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E6E9EF"/>
                </a:solidFill>
                <a:latin typeface="Consolas"/>
              </a:rPr>
              <a:t>uvicorn backend.main:app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serves API + dist on :8000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21040" y="4059935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589520" y="4187951"/>
            <a:ext cx="3916375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589520" y="4297679"/>
            <a:ext cx="45720" cy="347472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0" y="4261103"/>
            <a:ext cx="3623767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E6E9EF"/>
                </a:solidFill>
                <a:latin typeface="Consolas"/>
              </a:rPr>
              <a:t>reverse proxy + TLS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atharva.funl.bio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8006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RESILIENCE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07492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E6E9EF"/>
                </a:solidFill>
                <a:latin typeface="Calibri"/>
              </a:rPr>
              <a:t>Timeouts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6 s prices, 5 s news, futures cancelled after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507492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E6E9EF"/>
                </a:solidFill>
                <a:latin typeface="Calibri"/>
              </a:rPr>
              <a:t>Thread lock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cache read/write is race-free under 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64184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E6E9EF"/>
                </a:solidFill>
                <a:latin typeface="Calibri"/>
              </a:rPr>
              <a:t>Fallback file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atomic write via .tmp + rename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64184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E6E9EF"/>
                </a:solidFill>
                <a:latin typeface="Calibri"/>
              </a:rPr>
              <a:t>Live flag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UI shows when a price is stale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800" b="1">
                <a:solidFill>
                  <a:srgbClr val="F2B73F"/>
                </a:solidFill>
                <a:latin typeface="Calibri"/>
              </a:rPr>
              <a:t>atharva.funl.bio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17520"/>
            <a:ext cx="1463040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85800" y="33375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A0D14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37413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Enter 1 lakh, 5 years, risk 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947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A0D14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3133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Read risk score and allocation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2519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A0D14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28853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Move slider, watch pie and projection update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7091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A0D14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74573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Open Markets tab for live prices and news mood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1663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A0D14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0293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Ask the assistant a question about the plan</a:t>
            </a:r>
          </a:p>
        </p:txBody>
      </p:sp>
      <p:pic>
        <p:nvPicPr>
          <p:cNvPr id="16" name="Picture 15" descr="screenshot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65960"/>
            <a:ext cx="5715000" cy="381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Future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502152" cy="114300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2121408"/>
            <a:ext cx="45720" cy="92354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084832"/>
            <a:ext cx="3209544" cy="9966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Broker integration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Zerodha / Groww API so the plan can be executed in one click.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011680"/>
            <a:ext cx="3502152" cy="114300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4480560" y="2121408"/>
            <a:ext cx="45720" cy="92354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3440" y="2084832"/>
            <a:ext cx="3209544" cy="9966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Real user data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Retrain the risk model on actual user behaviour, improve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011680"/>
            <a:ext cx="3502152" cy="114300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275320" y="2121408"/>
            <a:ext cx="45720" cy="92354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58200" y="2084832"/>
            <a:ext cx="3209544" cy="9966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More assets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Mutual funds, bonds, SIP mode, more NSE tickers.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29000"/>
            <a:ext cx="3502152" cy="114300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85800" y="3538728"/>
            <a:ext cx="45720" cy="92354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3502152"/>
            <a:ext cx="3209544" cy="9966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Transformer sentiment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Replace lexicon with a fine-tuned FinBERT model.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3429000"/>
            <a:ext cx="3502152" cy="114300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480560" y="3538728"/>
            <a:ext cx="45720" cy="92354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63440" y="3502152"/>
            <a:ext cx="3209544" cy="9966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Alerts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Push notification when market mood turns negative on a held asset.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3429000"/>
            <a:ext cx="3502152" cy="114300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275320" y="3538728"/>
            <a:ext cx="45720" cy="92354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58200" y="3502152"/>
            <a:ext cx="3209544" cy="9966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Regional languages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Hindi and other languages in the assistant.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1206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E6E9EF"/>
                </a:solidFill>
                <a:latin typeface="Calibri"/>
              </a:rPr>
              <a:t>Thank you.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