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20574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5400" b="1">
                <a:solidFill>
                  <a:srgbClr val="F2B73F"/>
                </a:solidFill>
                <a:latin typeface="Calibri"/>
              </a:rPr>
              <a:t>AI Investment Advisor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154680"/>
            <a:ext cx="877824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100" b="0">
                <a:solidFill>
                  <a:srgbClr val="E6E9EF"/>
                </a:solidFill>
                <a:latin typeface="Calibri"/>
              </a:rPr>
              <a:t>ML-driven risk profiling and portfolio allocation for the Indian market, grounded on live data.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4160520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5B9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5B9CF6"/>
                </a:solidFill>
                <a:latin typeface="Calibri"/>
              </a:rPr>
              <a:t>Logistic Regression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4600" y="4160520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B08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B08CF6"/>
                </a:solidFill>
                <a:latin typeface="Calibri"/>
              </a:rPr>
              <a:t>Agentic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4160520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3DC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3DC8DC"/>
                </a:solidFill>
                <a:latin typeface="Calibri"/>
              </a:rPr>
              <a:t>Live Market Feed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160520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3DDC97"/>
                </a:solidFill>
                <a:latin typeface="Calibri"/>
              </a:rPr>
              <a:t>NLP Sentiment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846320"/>
            <a:ext cx="2377440" cy="10972"/>
          </a:xfrm>
          <a:prstGeom prst="rect">
            <a:avLst/>
          </a:prstGeom>
          <a:solidFill>
            <a:srgbClr val="1E2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507492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E6E9EF"/>
                </a:solidFill>
                <a:latin typeface="Calibri"/>
              </a:rPr>
              <a:t>Atharva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0">
                <a:solidFill>
                  <a:srgbClr val="8A93A6"/>
                </a:solidFill>
                <a:latin typeface="Calibri"/>
              </a:rPr>
              <a:t>Project Based Learning,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48295" y="507492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400" b="0">
                <a:solidFill>
                  <a:srgbClr val="8A93A6"/>
                </a:solidFill>
                <a:latin typeface="Calibri"/>
              </a:rPr>
              <a:t>atharva.funl.bio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8A93A6"/>
                </a:solidFill>
                <a:latin typeface="Calibri"/>
              </a:rPr>
              <a:t>WHY THIS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88136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2B73F"/>
                </a:solidFill>
                <a:latin typeface="Calibri"/>
              </a:rPr>
              <a:t>The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11679"/>
            <a:ext cx="45720" cy="868680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585216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1">
                <a:solidFill>
                  <a:srgbClr val="F2B73F"/>
                </a:solidFill>
                <a:latin typeface="Calibri"/>
              </a:rPr>
              <a:t>Idle savings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Most people keep money in a savings account at 3 to 4 percent. Inflation is 5 to 6 percent. Real value goes down every year.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246120"/>
            <a:ext cx="45720" cy="868680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0120" y="3200400"/>
            <a:ext cx="585216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1">
                <a:solidFill>
                  <a:srgbClr val="F2B73F"/>
                </a:solidFill>
                <a:latin typeface="Calibri"/>
              </a:rPr>
              <a:t>Biased advice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Banks and apps push the products they earn commission on. Advice is not personalised.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480559"/>
            <a:ext cx="45720" cy="868680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60120" y="4434840"/>
            <a:ext cx="585216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1">
                <a:solidFill>
                  <a:srgbClr val="F2B73F"/>
                </a:solidFill>
                <a:latin typeface="Calibri"/>
              </a:rPr>
              <a:t>Information overload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Prices, news and market mood change daily. A normal person cannot track all of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1965960"/>
            <a:ext cx="4190695" cy="361188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635240" y="2240280"/>
            <a:ext cx="3550615" cy="3200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600" b="1">
                <a:solidFill>
                  <a:srgbClr val="F2B73F"/>
                </a:solidFill>
                <a:latin typeface="Calibri"/>
              </a:rPr>
              <a:t>What the user needs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One place to enter 3 inputs and get a full plan.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A risk profile that is computed, not guessed.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Allocation across safe and growth assets.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Live prices and market sentiment in the same view.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A realistic projection with best and worst case.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8A93A6"/>
                </a:solidFill>
                <a:latin typeface="Calibri"/>
              </a:rPr>
              <a:t>INPUT, PROCESSING,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88136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2B73F"/>
                </a:solidFill>
                <a:latin typeface="Calibri"/>
              </a:rPr>
              <a:t>Solution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74519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F2B73F"/>
                </a:solidFill>
                <a:latin typeface="Calibri"/>
              </a:rPr>
              <a:t>INPUT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2377440" cy="713232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" y="2304288"/>
            <a:ext cx="45720" cy="493776"/>
          </a:xfrm>
          <a:prstGeom prst="rect">
            <a:avLst/>
          </a:prstGeom>
          <a:solidFill>
            <a:srgbClr val="5B9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2267712"/>
            <a:ext cx="2084832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E6E9EF"/>
                </a:solidFill>
                <a:latin typeface="Calibri"/>
              </a:rPr>
              <a:t>Amount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INR, any value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090672"/>
            <a:ext cx="2377440" cy="713232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85800" y="3200400"/>
            <a:ext cx="45720" cy="493776"/>
          </a:xfrm>
          <a:prstGeom prst="rect">
            <a:avLst/>
          </a:prstGeom>
          <a:solidFill>
            <a:srgbClr val="5B9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3163824"/>
            <a:ext cx="2084832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E6E9EF"/>
                </a:solidFill>
                <a:latin typeface="Calibri"/>
              </a:rPr>
              <a:t>Time horizon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1 / 3 / 5 / 10 years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986783"/>
            <a:ext cx="2377440" cy="713232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85800" y="4096511"/>
            <a:ext cx="45720" cy="493776"/>
          </a:xfrm>
          <a:prstGeom prst="rect">
            <a:avLst/>
          </a:prstGeom>
          <a:solidFill>
            <a:srgbClr val="5B9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68680" y="4059935"/>
            <a:ext cx="2084832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E6E9EF"/>
                </a:solidFill>
                <a:latin typeface="Calibri"/>
              </a:rPr>
              <a:t>Risk appetite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slider 0 to 100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94760" y="2194560"/>
            <a:ext cx="4480560" cy="3017520"/>
          </a:xfrm>
          <a:prstGeom prst="roundRect">
            <a:avLst>
              <a:gd name="adj" fmla="val 7000"/>
            </a:avLst>
          </a:prstGeom>
          <a:solidFill>
            <a:srgbClr val="161C2A"/>
          </a:solidFill>
          <a:ln w="15240">
            <a:solidFill>
              <a:srgbClr val="F2B7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794760" y="1874519"/>
            <a:ext cx="44805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F2B73F"/>
                </a:solidFill>
                <a:latin typeface="Calibri"/>
              </a:rPr>
              <a:t>PROCESSING ENGINE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69080" y="2423160"/>
            <a:ext cx="3931920" cy="566928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4069080" y="2532888"/>
            <a:ext cx="45720" cy="347472"/>
          </a:xfrm>
          <a:prstGeom prst="rect">
            <a:avLst/>
          </a:prstGeom>
          <a:solidFill>
            <a:srgbClr val="5B9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251960" y="2496312"/>
            <a:ext cx="3639312" cy="4206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Risk Model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Logistic Regression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69080" y="3081528"/>
            <a:ext cx="3931920" cy="566928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4069080" y="3191256"/>
            <a:ext cx="45720" cy="347472"/>
          </a:xfrm>
          <a:prstGeom prst="rect">
            <a:avLst/>
          </a:prstGeom>
          <a:solidFill>
            <a:srgbClr val="B08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251960" y="3154680"/>
            <a:ext cx="3639312" cy="4206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Allocation Engine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5 asset classes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69080" y="3739896"/>
            <a:ext cx="3931920" cy="566928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4069080" y="3849624"/>
            <a:ext cx="45720" cy="347472"/>
          </a:xfrm>
          <a:prstGeom prst="rect">
            <a:avLst/>
          </a:prstGeom>
          <a:solidFill>
            <a:srgbClr val="3DC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251960" y="3813048"/>
            <a:ext cx="3639312" cy="4206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Market Module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prices + news + sentiment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69080" y="4398264"/>
            <a:ext cx="3931920" cy="566928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4069080" y="4507992"/>
            <a:ext cx="45720" cy="347472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251960" y="4471416"/>
            <a:ext cx="3639312" cy="4206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Projection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compounding + volatility band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1874519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F2B73F"/>
                </a:solidFill>
                <a:latin typeface="Calibri"/>
              </a:rPr>
              <a:t>OUTPUT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2194560"/>
            <a:ext cx="2313432" cy="621792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9189720" y="2304288"/>
            <a:ext cx="45720" cy="402336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372600" y="2267712"/>
            <a:ext cx="2020824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Risk score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0 to 100 + label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2926080"/>
            <a:ext cx="2313432" cy="621792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9189720" y="3035808"/>
            <a:ext cx="45720" cy="402336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372600" y="2999232"/>
            <a:ext cx="2020824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Portfolio split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INR and percent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3657600"/>
            <a:ext cx="2313432" cy="621792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9189720" y="3767328"/>
            <a:ext cx="45720" cy="402336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372600" y="3730752"/>
            <a:ext cx="2020824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Live picks + mood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5 tickers, headlines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89720" y="4389120"/>
            <a:ext cx="2313432" cy="621792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9189720" y="4498848"/>
            <a:ext cx="45720" cy="402336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9372600" y="4462272"/>
            <a:ext cx="2020824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Growth chart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mid, low, high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063240" y="2551176"/>
            <a:ext cx="73152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063240" y="3447288"/>
            <a:ext cx="73152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063240" y="4343400"/>
            <a:ext cx="73152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275320" y="2505456"/>
            <a:ext cx="91440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8275320" y="3236976"/>
            <a:ext cx="91440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8275320" y="3968496"/>
            <a:ext cx="91440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8275320" y="4700016"/>
            <a:ext cx="91440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685800" y="5623560"/>
            <a:ext cx="108200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>
                <a:solidFill>
                  <a:srgbClr val="8A93A6"/>
                </a:solidFill>
                <a:latin typeface="Calibri"/>
              </a:rPr>
              <a:t>One POST request to /api/analyse runs all four modules and returns the complete plan as JSON.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8A93A6"/>
                </a:solidFill>
                <a:latin typeface="Calibri"/>
              </a:rPr>
              <a:t>THREE TIER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88136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2B73F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9112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CLIENT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737360" y="2148840"/>
            <a:ext cx="9768535" cy="0"/>
          </a:xfrm>
          <a:prstGeom prst="line">
            <a:avLst/>
          </a:prstGeom>
          <a:ln w="9525">
            <a:solidFill>
              <a:srgbClr val="1E263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3319272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API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37360" y="3429000"/>
            <a:ext cx="9768535" cy="0"/>
          </a:xfrm>
          <a:prstGeom prst="line">
            <a:avLst/>
          </a:prstGeom>
          <a:ln w="9525">
            <a:solidFill>
              <a:srgbClr val="1E263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4599432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SERVICES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737360" y="4709160"/>
            <a:ext cx="9768535" cy="0"/>
          </a:xfrm>
          <a:prstGeom prst="line">
            <a:avLst/>
          </a:prstGeom>
          <a:ln w="9525">
            <a:solidFill>
              <a:srgbClr val="1E263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5788152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EXTERNAL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737360" y="5897880"/>
            <a:ext cx="9768535" cy="0"/>
          </a:xfrm>
          <a:prstGeom prst="line">
            <a:avLst/>
          </a:prstGeom>
          <a:ln w="9525">
            <a:solidFill>
              <a:srgbClr val="1E263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920240" y="1783080"/>
            <a:ext cx="3291840" cy="7315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1920240" y="1892807"/>
            <a:ext cx="45720" cy="512064"/>
          </a:xfrm>
          <a:prstGeom prst="rect">
            <a:avLst/>
          </a:prstGeom>
          <a:solidFill>
            <a:srgbClr val="5B9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103120" y="1856231"/>
            <a:ext cx="2999232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E6E9EF"/>
                </a:solidFill>
                <a:latin typeface="Calibri"/>
              </a:rPr>
              <a:t>React + TypeScript SPA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Vite, Tailwind, Recharts, lightweight-charts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0" y="1783080"/>
            <a:ext cx="3017520" cy="7315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486400" y="1892807"/>
            <a:ext cx="45720" cy="512064"/>
          </a:xfrm>
          <a:prstGeom prst="rect">
            <a:avLst/>
          </a:prstGeom>
          <a:solidFill>
            <a:srgbClr val="B08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669280" y="1856231"/>
            <a:ext cx="2724912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E6E9EF"/>
                </a:solidFill>
                <a:latin typeface="Calibri"/>
              </a:rPr>
              <a:t>Built-in assistant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chat UI, streams answers from AI layer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20240" y="3063240"/>
            <a:ext cx="6583680" cy="7315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1920240" y="3172968"/>
            <a:ext cx="45720" cy="512064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103120" y="3136392"/>
            <a:ext cx="6291072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E6E9EF"/>
                </a:solidFill>
                <a:latin typeface="Calibri"/>
              </a:rPr>
              <a:t>FastAPI backend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POST /api/analyse   GET /api/prices   GET /api/news   Pydantic validation, CORS, serves the SPA build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4343400"/>
            <a:ext cx="2331720" cy="7315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920240" y="4453128"/>
            <a:ext cx="45720" cy="512064"/>
          </a:xfrm>
          <a:prstGeom prst="rect">
            <a:avLst/>
          </a:prstGeom>
          <a:solidFill>
            <a:srgbClr val="5B9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103120" y="4416552"/>
            <a:ext cx="2039112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onsolas"/>
              </a:rPr>
              <a:t>risk_model.py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sklearn LogisticRegression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4343400"/>
            <a:ext cx="2331720" cy="7315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4389120" y="4453128"/>
            <a:ext cx="45720" cy="512064"/>
          </a:xfrm>
          <a:prstGeom prst="rect">
            <a:avLst/>
          </a:prstGeom>
          <a:solidFill>
            <a:srgbClr val="B08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572000" y="4416552"/>
            <a:ext cx="2039112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onsolas"/>
              </a:rPr>
              <a:t>allocator.py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anchor interpolation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0" y="4343400"/>
            <a:ext cx="2331720" cy="7315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858000" y="4453128"/>
            <a:ext cx="45720" cy="512064"/>
          </a:xfrm>
          <a:prstGeom prst="rect">
            <a:avLst/>
          </a:prstGeom>
          <a:solidFill>
            <a:srgbClr val="3DC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040880" y="4416552"/>
            <a:ext cx="2039112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onsolas"/>
              </a:rPr>
              <a:t>market.py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yfinance, cache, sentiment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0" y="4343400"/>
            <a:ext cx="2331720" cy="7315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9326880" y="4453128"/>
            <a:ext cx="45720" cy="512064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509759" y="4416552"/>
            <a:ext cx="2039112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onsolas"/>
              </a:rPr>
              <a:t>projection.py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monthly compounding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20240" y="5532120"/>
            <a:ext cx="3154680" cy="7315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1920240" y="5641848"/>
            <a:ext cx="45720" cy="512064"/>
          </a:xfrm>
          <a:prstGeom prst="rect">
            <a:avLst/>
          </a:prstGeom>
          <a:solidFill>
            <a:srgbClr val="3DC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2103120" y="5605272"/>
            <a:ext cx="2862072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E6E9EF"/>
                </a:solidFill>
                <a:latin typeface="Calibri"/>
              </a:rPr>
              <a:t>Yahoo Finance API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NSE tickers, BTC-INR, headlines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212080" y="5532120"/>
            <a:ext cx="3154680" cy="7315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12080" y="5641848"/>
            <a:ext cx="45720" cy="512064"/>
          </a:xfrm>
          <a:prstGeom prst="rect">
            <a:avLst/>
          </a:prstGeom>
          <a:solidFill>
            <a:srgbClr val="B08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394960" y="5605272"/>
            <a:ext cx="2862072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E6E9EF"/>
                </a:solidFill>
                <a:latin typeface="Calibri"/>
              </a:rPr>
              <a:t>Claude Sonnet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reasoning layer via agentic harness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03920" y="5532120"/>
            <a:ext cx="3154680" cy="7315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8503920" y="5641848"/>
            <a:ext cx="45720" cy="512064"/>
          </a:xfrm>
          <a:prstGeom prst="rect">
            <a:avLst/>
          </a:prstGeom>
          <a:solidFill>
            <a:srgbClr val="8A9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686800" y="5605272"/>
            <a:ext cx="2862072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E6E9EF"/>
                </a:solidFill>
                <a:latin typeface="Calibri"/>
              </a:rPr>
              <a:t>fallback.json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last good prices and news on disk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566160" y="2514600"/>
            <a:ext cx="0" cy="548640"/>
          </a:xfrm>
          <a:prstGeom prst="line">
            <a:avLst/>
          </a:prstGeom>
          <a:ln w="19050">
            <a:solidFill>
              <a:srgbClr val="8A93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995160" y="2514600"/>
            <a:ext cx="0" cy="548640"/>
          </a:xfrm>
          <a:prstGeom prst="line">
            <a:avLst/>
          </a:prstGeom>
          <a:ln w="19050">
            <a:solidFill>
              <a:srgbClr val="8A93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3086100" y="3794760"/>
            <a:ext cx="0" cy="548640"/>
          </a:xfrm>
          <a:prstGeom prst="line">
            <a:avLst/>
          </a:prstGeom>
          <a:ln w="19050">
            <a:solidFill>
              <a:srgbClr val="8A93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554979" y="3794760"/>
            <a:ext cx="0" cy="548640"/>
          </a:xfrm>
          <a:prstGeom prst="line">
            <a:avLst/>
          </a:prstGeom>
          <a:ln w="19050">
            <a:solidFill>
              <a:srgbClr val="8A93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8023860" y="3794760"/>
            <a:ext cx="0" cy="548640"/>
          </a:xfrm>
          <a:prstGeom prst="line">
            <a:avLst/>
          </a:prstGeom>
          <a:ln w="19050">
            <a:solidFill>
              <a:srgbClr val="8A93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492740" y="3794760"/>
            <a:ext cx="0" cy="548640"/>
          </a:xfrm>
          <a:prstGeom prst="line">
            <a:avLst/>
          </a:prstGeom>
          <a:ln w="19050">
            <a:solidFill>
              <a:srgbClr val="8A93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3497580" y="5074920"/>
            <a:ext cx="4526280" cy="457200"/>
          </a:xfrm>
          <a:prstGeom prst="bentConnector3">
            <a:avLst/>
          </a:prstGeom>
          <a:ln w="19050">
            <a:solidFill>
              <a:srgbClr val="8A93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389620" y="5074920"/>
            <a:ext cx="1691640" cy="457200"/>
          </a:xfrm>
          <a:prstGeom prst="bentConnector3">
            <a:avLst/>
          </a:prstGeom>
          <a:ln w="19050">
            <a:solidFill>
              <a:srgbClr val="8A93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6789420" y="5074920"/>
            <a:ext cx="4594860" cy="457200"/>
          </a:xfrm>
          <a:prstGeom prst="bentConnector3">
            <a:avLst/>
          </a:prstGeom>
          <a:ln w="19050">
            <a:solidFill>
              <a:srgbClr val="B08CF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8A93A6"/>
                </a:solidFill>
                <a:latin typeface="Calibri"/>
              </a:rPr>
              <a:t>WHAT HAPPENS ON ONE CLICK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88136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2B73F"/>
                </a:solidFill>
                <a:latin typeface="Calibri"/>
              </a:rPr>
              <a:t>Request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3291840" cy="9601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85800" y="2121408"/>
            <a:ext cx="45720" cy="740664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2084832"/>
            <a:ext cx="2999232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E6E9EF"/>
                </a:solidFill>
                <a:latin typeface="Calibri"/>
              </a:rPr>
              <a:t>1  Validate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Pydantic checks amount &gt; 0, horizon in {1,3,5,10}, risk 0 to 100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77639" y="2491740"/>
            <a:ext cx="32004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97680" y="2011680"/>
            <a:ext cx="3291840" cy="9601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297680" y="2121408"/>
            <a:ext cx="45720" cy="740664"/>
          </a:xfrm>
          <a:prstGeom prst="rect">
            <a:avLst/>
          </a:prstGeom>
          <a:solidFill>
            <a:srgbClr val="5B9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480560" y="2084832"/>
            <a:ext cx="2999232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E6E9EF"/>
                </a:solidFill>
                <a:latin typeface="Calibri"/>
              </a:rPr>
              <a:t>2  Risk score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LogisticRegression.predict_proba -&gt; weighted score 0 to 100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589520" y="2491740"/>
            <a:ext cx="32004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09560" y="2011680"/>
            <a:ext cx="3291840" cy="9601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909560" y="2121408"/>
            <a:ext cx="45720" cy="740664"/>
          </a:xfrm>
          <a:prstGeom prst="rect">
            <a:avLst/>
          </a:prstGeom>
          <a:solidFill>
            <a:srgbClr val="B08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092440" y="2084832"/>
            <a:ext cx="2999232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E6E9EF"/>
                </a:solidFill>
                <a:latin typeface="Calibri"/>
              </a:rPr>
              <a:t>3  Allocate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Interpolate anchor weights, apply horizon rule, normalise to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794760"/>
            <a:ext cx="3291840" cy="9601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85800" y="3904488"/>
            <a:ext cx="45720" cy="740664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68680" y="3867912"/>
            <a:ext cx="2999232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E6E9EF"/>
                </a:solidFill>
                <a:latin typeface="Calibri"/>
              </a:rPr>
              <a:t>4  Project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Compound monthly for N years, build low / mid / high band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977639" y="4274820"/>
            <a:ext cx="32004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297680" y="3794760"/>
            <a:ext cx="3291840" cy="9601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4297680" y="3904488"/>
            <a:ext cx="45720" cy="740664"/>
          </a:xfrm>
          <a:prstGeom prst="rect">
            <a:avLst/>
          </a:prstGeom>
          <a:solidFill>
            <a:srgbClr val="3DC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480560" y="3867912"/>
            <a:ext cx="2999232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E6E9EF"/>
                </a:solidFill>
                <a:latin typeface="Calibri"/>
              </a:rPr>
              <a:t>5  Market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Prices + news from cache or live fetch, sentiment -&gt; mood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589520" y="4274820"/>
            <a:ext cx="32004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909560" y="3794760"/>
            <a:ext cx="3291840" cy="9601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909560" y="3904488"/>
            <a:ext cx="45720" cy="740664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092440" y="3867912"/>
            <a:ext cx="2999232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E6E9EF"/>
                </a:solidFill>
                <a:latin typeface="Calibri"/>
              </a:rPr>
              <a:t>6  Respond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Single JSON: score, allocation, picks, news, mood, projection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555480" y="2971800"/>
            <a:ext cx="0" cy="411480"/>
          </a:xfrm>
          <a:prstGeom prst="line">
            <a:avLst/>
          </a:prstGeom>
          <a:ln w="19050">
            <a:solidFill>
              <a:srgbClr val="F2B7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2331720" y="3383280"/>
            <a:ext cx="7223760" cy="0"/>
          </a:xfrm>
          <a:prstGeom prst="line">
            <a:avLst/>
          </a:prstGeom>
          <a:ln w="19050">
            <a:solidFill>
              <a:srgbClr val="F2B7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331720" y="3383280"/>
            <a:ext cx="0" cy="41148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85800" y="5074920"/>
            <a:ext cx="10820095" cy="822960"/>
          </a:xfrm>
          <a:prstGeom prst="roundRect">
            <a:avLst>
              <a:gd name="adj" fmla="val 7000"/>
            </a:avLst>
          </a:prstGeom>
          <a:solidFill>
            <a:srgbClr val="161C2A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0120" y="5184648"/>
            <a:ext cx="1027145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F2B73F"/>
                </a:solidFill>
                <a:latin typeface="Calibri"/>
              </a:rPr>
              <a:t>Cache strategy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8A93A6"/>
                </a:solidFill>
                <a:latin typeface="Calibri"/>
              </a:rPr>
              <a:t>Prices cached 60 s, news cached 600 s, guarded by a thread lock. Live fetch runs in a ThreadPoolExecutor with a 6 s timeout. On failure it falls back to fallback.json and marks the pick as not live.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8A93A6"/>
                </a:solidFill>
                <a:latin typeface="Calibri"/>
              </a:rPr>
              <a:t>RISK PROFILING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88136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2B73F"/>
                </a:solidFill>
                <a:latin typeface="Calibri"/>
              </a:rPr>
              <a:t>Machine Learning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F2B73F"/>
                </a:solidFill>
                <a:latin typeface="Calibri"/>
              </a:rPr>
              <a:t>TRAINING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03120"/>
            <a:ext cx="1600200" cy="86868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" y="2212848"/>
            <a:ext cx="45720" cy="649224"/>
          </a:xfrm>
          <a:prstGeom prst="rect">
            <a:avLst/>
          </a:prstGeom>
          <a:solidFill>
            <a:srgbClr val="3DC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2176272"/>
            <a:ext cx="1307592" cy="72237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Dataset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Indian Retail Investor
Risk Profile (Kaggle)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286000" y="2537460"/>
            <a:ext cx="22860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514600" y="2103120"/>
            <a:ext cx="1600200" cy="86868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2514600" y="2212848"/>
            <a:ext cx="45720" cy="649224"/>
          </a:xfrm>
          <a:prstGeom prst="rect">
            <a:avLst/>
          </a:prstGeom>
          <a:solidFill>
            <a:srgbClr val="5B9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697480" y="2176272"/>
            <a:ext cx="1307592" cy="72237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Preprocess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log10(amount),
feature scaling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14800" y="2537460"/>
            <a:ext cx="22860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343400" y="2103120"/>
            <a:ext cx="1600200" cy="86868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4343400" y="2212848"/>
            <a:ext cx="45720" cy="649224"/>
          </a:xfrm>
          <a:prstGeom prst="rect">
            <a:avLst/>
          </a:prstGeom>
          <a:solidFill>
            <a:srgbClr val="5B9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26280" y="2176272"/>
            <a:ext cx="1307592" cy="72237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Split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80 / 20
train / test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3600" y="2537460"/>
            <a:ext cx="22860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172200" y="2103120"/>
            <a:ext cx="1600200" cy="86868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172200" y="2212848"/>
            <a:ext cx="45720" cy="649224"/>
          </a:xfrm>
          <a:prstGeom prst="rect">
            <a:avLst/>
          </a:prstGeom>
          <a:solidFill>
            <a:srgbClr val="B08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355080" y="2176272"/>
            <a:ext cx="1307592" cy="72237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Train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LogisticRegression
max_iter=300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72400" y="2537460"/>
            <a:ext cx="22860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001000" y="2103120"/>
            <a:ext cx="1600200" cy="86868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8001000" y="2212848"/>
            <a:ext cx="45720" cy="649224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183879" y="2176272"/>
            <a:ext cx="1307592" cy="72237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Evaluate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accuracy, F1,
confusion matrix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601200" y="2537460"/>
            <a:ext cx="22860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829800" y="2103120"/>
            <a:ext cx="1600200" cy="86868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9829800" y="2212848"/>
            <a:ext cx="45720" cy="649224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0012680" y="2176272"/>
            <a:ext cx="1307592" cy="72237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Serve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in-memory model,
retrained on boot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3337560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F2B73F"/>
                </a:solidFill>
                <a:latin typeface="Calibri"/>
              </a:rPr>
              <a:t>INFERENCE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3657600"/>
            <a:ext cx="5120640" cy="566928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685800" y="3767328"/>
            <a:ext cx="45720" cy="347472"/>
          </a:xfrm>
          <a:prstGeom prst="rect">
            <a:avLst/>
          </a:prstGeom>
          <a:solidFill>
            <a:srgbClr val="5B9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68680" y="3730752"/>
            <a:ext cx="4828031" cy="4206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Features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[log10(amount), horizon, risk_pref]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508760" y="4224528"/>
            <a:ext cx="0" cy="128016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85800" y="4352544"/>
            <a:ext cx="5120640" cy="566928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685800" y="4462272"/>
            <a:ext cx="45720" cy="347472"/>
          </a:xfrm>
          <a:prstGeom prst="rect">
            <a:avLst/>
          </a:prstGeom>
          <a:solidFill>
            <a:srgbClr val="B08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68680" y="4425696"/>
            <a:ext cx="4828031" cy="4206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predict_proba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P(Low), P(Moderate), P(High)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508760" y="4919472"/>
            <a:ext cx="0" cy="128016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685800" y="5047488"/>
            <a:ext cx="5120640" cy="566928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85800" y="5157216"/>
            <a:ext cx="45720" cy="34747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68680" y="5120640"/>
            <a:ext cx="4828031" cy="4206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Score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15·P(L) + 50·P(M) + 88·P(H)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508760" y="5614416"/>
            <a:ext cx="0" cy="128015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685800" y="5742431"/>
            <a:ext cx="5120640" cy="566928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685800" y="5852159"/>
            <a:ext cx="45720" cy="347472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68680" y="5815583"/>
            <a:ext cx="4828031" cy="4206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Label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&lt;34 Low, &lt;67 Moderate, else High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6400800" y="3611880"/>
          <a:ext cx="5102352" cy="2368296"/>
        </p:xfrm>
        <a:graphic>
          <a:graphicData uri="http://schemas.openxmlformats.org/drawingml/2006/table">
            <a:tbl>
              <a:tblPr firstRow="0" bandRow="0" firstCol="0" lastRow="0" lastCol="0"/>
              <a:tblGrid>
                <a:gridCol w="1737360"/>
                <a:gridCol w="3364992"/>
              </a:tblGrid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2B73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2B73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E6E9EF"/>
                          </a:solidFill>
                          <a:latin typeface="Calibri"/>
                        </a:rPr>
                        <a:t>Algorithm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8A93A6"/>
                          </a:solidFill>
                          <a:latin typeface="Calibri"/>
                        </a:rPr>
                        <a:t>Logistic Regression (multinomial)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E6E9EF"/>
                          </a:solidFill>
                          <a:latin typeface="Calibri"/>
                        </a:rPr>
                        <a:t>Library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8A93A6"/>
                          </a:solidFill>
                          <a:latin typeface="Calibri"/>
                        </a:rPr>
                        <a:t>scikit-learn 1.x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E6E9EF"/>
                          </a:solidFill>
                          <a:latin typeface="Calibri"/>
                        </a:rPr>
                        <a:t>Records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8A93A6"/>
                          </a:solidFill>
                          <a:latin typeface="Calibri"/>
                        </a:rPr>
                        <a:t>2,000 investor profiles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E6E9EF"/>
                          </a:solidFill>
                          <a:latin typeface="Calibri"/>
                        </a:rPr>
                        <a:t>Features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8A93A6"/>
                          </a:solidFill>
                          <a:latin typeface="Calibri"/>
                        </a:rPr>
                        <a:t>3 numeric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E6E9EF"/>
                          </a:solidFill>
                          <a:latin typeface="Calibri"/>
                        </a:rPr>
                        <a:t>Classes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8A93A6"/>
                          </a:solidFill>
                          <a:latin typeface="Calibri"/>
                        </a:rPr>
                        <a:t>Low / Moderate / High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E6E9EF"/>
                          </a:solidFill>
                          <a:latin typeface="Calibri"/>
                        </a:rPr>
                        <a:t>Train time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8A93A6"/>
                          </a:solidFill>
                          <a:latin typeface="Calibri"/>
                        </a:rPr>
                        <a:t>&lt; 1 second on CPU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8A93A6"/>
                </a:solidFill>
                <a:latin typeface="Calibri"/>
              </a:rPr>
              <a:t>HELD-OUT TEST SET, 400 RECORDS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88136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2B73F"/>
                </a:solidFill>
                <a:latin typeface="Calibri"/>
              </a:rPr>
              <a:t>Model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F2B73F"/>
                </a:solidFill>
                <a:latin typeface="Calibri"/>
              </a:rPr>
              <a:t>CLASSIFICATION REPORT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148840"/>
          <a:ext cx="5852160" cy="1920240"/>
        </p:xfrm>
        <a:graphic>
          <a:graphicData uri="http://schemas.openxmlformats.org/drawingml/2006/table">
            <a:tbl>
              <a:tblPr firstRow="0" bandRow="0" firstCol="0" lastRow="0" lastCol="0"/>
              <a:tblGrid>
                <a:gridCol w="1737360"/>
                <a:gridCol w="1005840"/>
                <a:gridCol w="1005840"/>
                <a:gridCol w="1005840"/>
                <a:gridCol w="109728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2B73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B73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B73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B73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B73F"/>
                          </a:solidFill>
                          <a:latin typeface="Calibri"/>
                        </a:rPr>
                        <a:t>Support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6E9EF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0.93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2B73F"/>
                          </a:solidFill>
                          <a:latin typeface="Calibri"/>
                        </a:rPr>
                        <a:t>0.92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132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6E9EF"/>
                          </a:solidFill>
                          <a:latin typeface="Calibri"/>
                        </a:rPr>
                        <a:t>Moderate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0.87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2B73F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6E9E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0.92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2B73F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127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6E9EF"/>
                          </a:solidFill>
                          <a:latin typeface="Calibri"/>
                        </a:rPr>
                        <a:t>Weighted avg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F2B73F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086600" y="182880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F2B73F"/>
                </a:solidFill>
                <a:latin typeface="Calibri"/>
              </a:rPr>
              <a:t>CONFUSION MATRIX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086600" y="2148840"/>
          <a:ext cx="4416552" cy="1828800"/>
        </p:xfrm>
        <a:graphic>
          <a:graphicData uri="http://schemas.openxmlformats.org/drawingml/2006/table">
            <a:tbl>
              <a:tblPr firstRow="0" bandRow="0" firstCol="0" lastRow="0" lastCol="0"/>
              <a:tblGrid>
                <a:gridCol w="1417320"/>
                <a:gridCol w="960120"/>
                <a:gridCol w="1078992"/>
                <a:gridCol w="9601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2B73F"/>
                          </a:solidFill>
                          <a:latin typeface="Calibri"/>
                        </a:rPr>
                        <a:t>Actual \ Pred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B73F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B73F"/>
                          </a:solidFill>
                          <a:latin typeface="Calibri"/>
                        </a:rPr>
                        <a:t>Moderate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B73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6E9EF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6E9EF"/>
                          </a:solidFill>
                          <a:latin typeface="Calibri"/>
                        </a:rPr>
                        <a:t>Moderate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126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6E9E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85800" y="4526280"/>
            <a:ext cx="2468880" cy="100584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4663440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600" b="1">
                <a:solidFill>
                  <a:srgbClr val="F2B73F"/>
                </a:solidFill>
                <a:latin typeface="Calibri"/>
              </a:rPr>
              <a:t>90.5%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8A93A6"/>
                </a:solidFill>
                <a:latin typeface="Calibri"/>
              </a:rPr>
              <a:t>test 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4526280"/>
            <a:ext cx="2468880" cy="100584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11880" y="4663440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600" b="1">
                <a:solidFill>
                  <a:srgbClr val="F2B73F"/>
                </a:solidFill>
                <a:latin typeface="Calibri"/>
              </a:rPr>
              <a:t>0.90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8A93A6"/>
                </a:solidFill>
                <a:latin typeface="Calibri"/>
              </a:rPr>
              <a:t>macro F1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4526280"/>
            <a:ext cx="2468880" cy="100584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09360" y="4663440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600" b="1">
                <a:solidFill>
                  <a:srgbClr val="F2B73F"/>
                </a:solidFill>
                <a:latin typeface="Calibri"/>
              </a:rPr>
              <a:t>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8A93A6"/>
                </a:solidFill>
                <a:latin typeface="Calibri"/>
              </a:rPr>
              <a:t>features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526280"/>
            <a:ext cx="2468880" cy="100584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006840" y="4663440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600" b="1">
                <a:solidFill>
                  <a:srgbClr val="F2B73F"/>
                </a:solidFill>
                <a:latin typeface="Calibri"/>
              </a:rPr>
              <a:t>&lt; 1 ms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8A93A6"/>
                </a:solidFill>
                <a:latin typeface="Calibri"/>
              </a:rPr>
              <a:t>inference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76072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8A93A6"/>
                </a:solidFill>
                <a:latin typeface="Calibri"/>
              </a:rPr>
              <a:t>Most confusion is between neighbouring classes (Low vs Moderate, Moderate vs High). No Low is ever predicted as High.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8A93A6"/>
                </a:solidFill>
                <a:latin typeface="Calibri"/>
              </a:rPr>
              <a:t>RISK SCORE TO ASSET WEIGHTS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88136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2B73F"/>
                </a:solidFill>
                <a:latin typeface="Calibri"/>
              </a:rPr>
              <a:t>Allocation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F2B73F"/>
                </a:solidFill>
                <a:latin typeface="Calibri"/>
              </a:rPr>
              <a:t>ANCHOR TABLE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148840"/>
          <a:ext cx="6766560" cy="2414016"/>
        </p:xfrm>
        <a:graphic>
          <a:graphicData uri="http://schemas.openxmlformats.org/drawingml/2006/table">
            <a:tbl>
              <a:tblPr firstRow="0" bandRow="0" firstCol="0" lastRow="0" lastCol="0"/>
              <a:tblGrid>
                <a:gridCol w="1737360"/>
                <a:gridCol w="1005840"/>
                <a:gridCol w="1005840"/>
                <a:gridCol w="1005840"/>
                <a:gridCol w="1005840"/>
                <a:gridCol w="100584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2B73F"/>
                          </a:solidFill>
                          <a:latin typeface="Calibri"/>
                        </a:rPr>
                        <a:t>Asset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B73F"/>
                          </a:solidFill>
                          <a:latin typeface="Calibri"/>
                        </a:rPr>
                        <a:t>Exp. return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B73F"/>
                          </a:solidFill>
                          <a:latin typeface="Calibri"/>
                        </a:rPr>
                        <a:t>Volatility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B73F"/>
                          </a:solidFill>
                          <a:latin typeface="Calibri"/>
                        </a:rPr>
                        <a:t>Risk 0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B73F"/>
                          </a:solidFill>
                          <a:latin typeface="Calibri"/>
                        </a:rPr>
                        <a:t>Risk 50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B73F"/>
                          </a:solidFill>
                          <a:latin typeface="Calibri"/>
                        </a:rPr>
                        <a:t>Risk 100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6E9EF"/>
                          </a:solidFill>
                          <a:latin typeface="Calibri"/>
                        </a:rPr>
                        <a:t>Bank FD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7.0%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55%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6E9EF"/>
                          </a:solidFill>
                          <a:latin typeface="Calibri"/>
                        </a:rPr>
                        <a:t>Gold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9.0%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6E9EF"/>
                          </a:solidFill>
                          <a:latin typeface="Calibri"/>
                        </a:rPr>
                        <a:t>Nifty 50 index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12.5%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6E9EF"/>
                          </a:solidFill>
                          <a:latin typeface="Calibri"/>
                        </a:rPr>
                        <a:t>Bluechip stocks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14.0%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6E9EF"/>
                          </a:solidFill>
                          <a:latin typeface="Calibri"/>
                        </a:rPr>
                        <a:t>Crypto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25.0%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60%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955279" y="1828800"/>
            <a:ext cx="3547872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F2B73F"/>
                </a:solidFill>
                <a:latin typeface="Calibri"/>
              </a:rPr>
              <a:t>HOW WEIGHTS ARE COMPUTED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2148840"/>
            <a:ext cx="3547872" cy="603504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955279" y="2258568"/>
            <a:ext cx="45720" cy="384048"/>
          </a:xfrm>
          <a:prstGeom prst="rect">
            <a:avLst/>
          </a:prstGeom>
          <a:solidFill>
            <a:srgbClr val="5B9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138159" y="2221992"/>
            <a:ext cx="3255264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Risk score in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from ML model, 0 to 100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86800" y="2752344"/>
            <a:ext cx="0" cy="128016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55279" y="2880360"/>
            <a:ext cx="3547872" cy="603504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955279" y="2990088"/>
            <a:ext cx="45720" cy="384048"/>
          </a:xfrm>
          <a:prstGeom prst="rect">
            <a:avLst/>
          </a:prstGeom>
          <a:solidFill>
            <a:srgbClr val="B08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138159" y="2953512"/>
            <a:ext cx="3255264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Linear interpolation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between nearest two anchor rows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686800" y="3483864"/>
            <a:ext cx="0" cy="128016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955279" y="3611880"/>
            <a:ext cx="3547872" cy="603504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955279" y="3721608"/>
            <a:ext cx="45720" cy="384048"/>
          </a:xfrm>
          <a:prstGeom prst="rect">
            <a:avLst/>
          </a:prstGeom>
          <a:solidFill>
            <a:srgbClr val="3DC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38159" y="3685032"/>
            <a:ext cx="3255264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Horizon rule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if 1 year: halve crypto + bluechip,
move that weight to FD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86800" y="4215384"/>
            <a:ext cx="0" cy="128016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955279" y="4343400"/>
            <a:ext cx="3547872" cy="603504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7955279" y="4453128"/>
            <a:ext cx="45720" cy="384048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138159" y="4416552"/>
            <a:ext cx="3255264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Normalise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weights sum to exactly 100%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686800" y="4946904"/>
            <a:ext cx="0" cy="128016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955279" y="5074920"/>
            <a:ext cx="3547872" cy="603504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955279" y="5184648"/>
            <a:ext cx="45720" cy="384048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138159" y="5148072"/>
            <a:ext cx="3255264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Amount split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weight × amount, in INR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029200"/>
            <a:ext cx="676656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E6E9EF"/>
                </a:solidFill>
                <a:latin typeface="Calibri"/>
              </a:rPr>
              <a:t>Example: risk 60 sits between anchors 50 and 100 at t = 0.2, so Nifty = 35 + (30 − 35) × 0.2 = 34%.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8A93A6"/>
                </a:solidFill>
                <a:latin typeface="Calibri"/>
              </a:rPr>
              <a:t>Expected returns are published long-run averages for each asset class.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8A93A6"/>
                </a:solidFill>
                <a:latin typeface="Calibri"/>
              </a:rPr>
              <a:t>AGENTIC HARNESS ON CLAUDE SONNET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88136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2B73F"/>
                </a:solidFill>
                <a:latin typeface="Calibri"/>
              </a:rPr>
              <a:t>AI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10820095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0">
                <a:solidFill>
                  <a:srgbClr val="E6E9EF"/>
                </a:solidFill>
                <a:latin typeface="Calibri"/>
              </a:rPr>
              <a:t>The model never answers from scratch. Every call is grounded on numbers our own code computed.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514600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" y="2624328"/>
            <a:ext cx="45720" cy="438912"/>
          </a:xfrm>
          <a:prstGeom prst="rect">
            <a:avLst/>
          </a:prstGeom>
          <a:solidFill>
            <a:srgbClr val="5B9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2587752"/>
            <a:ext cx="2450592" cy="51206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ML risk score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from risk_model.py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429000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85800" y="3538728"/>
            <a:ext cx="45720" cy="438912"/>
          </a:xfrm>
          <a:prstGeom prst="rect">
            <a:avLst/>
          </a:prstGeom>
          <a:solidFill>
            <a:srgbClr val="B08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3502152"/>
            <a:ext cx="2450592" cy="51206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Allocation + projection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from allocator / projection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343400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85800" y="4453128"/>
            <a:ext cx="45720" cy="438912"/>
          </a:xfrm>
          <a:prstGeom prst="rect">
            <a:avLst/>
          </a:prstGeom>
          <a:solidFill>
            <a:srgbClr val="3DC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68680" y="4416552"/>
            <a:ext cx="2450592" cy="51206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Live prices + mood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from market.py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60" y="3017520"/>
            <a:ext cx="2194560" cy="1097280"/>
          </a:xfrm>
          <a:prstGeom prst="roundRect">
            <a:avLst>
              <a:gd name="adj" fmla="val 8000"/>
            </a:avLst>
          </a:prstGeom>
          <a:solidFill>
            <a:srgbClr val="161C2A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4023360" y="3127248"/>
            <a:ext cx="45720" cy="877824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206240" y="3090672"/>
            <a:ext cx="1901952" cy="9509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E6E9EF"/>
                </a:solidFill>
                <a:latin typeface="Calibri"/>
              </a:rPr>
              <a:t>Structured prompt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system rules + JSON context
+ user question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429000" y="2843784"/>
            <a:ext cx="594360" cy="722376"/>
          </a:xfrm>
          <a:prstGeom prst="bentConnector3">
            <a:avLst/>
          </a:prstGeom>
          <a:ln w="19050">
            <a:solidFill>
              <a:srgbClr val="8A93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3429000" y="3566160"/>
            <a:ext cx="594360" cy="192024"/>
          </a:xfrm>
          <a:prstGeom prst="bentConnector3">
            <a:avLst/>
          </a:prstGeom>
          <a:ln w="19050">
            <a:solidFill>
              <a:srgbClr val="8A93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3429000" y="3566160"/>
            <a:ext cx="594360" cy="1106424"/>
          </a:xfrm>
          <a:prstGeom prst="bentConnector3">
            <a:avLst/>
          </a:prstGeom>
          <a:ln w="19050">
            <a:solidFill>
              <a:srgbClr val="8A93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812280" y="3017520"/>
            <a:ext cx="2194560" cy="1097280"/>
          </a:xfrm>
          <a:prstGeom prst="roundRect">
            <a:avLst>
              <a:gd name="adj" fmla="val 8000"/>
            </a:avLst>
          </a:prstGeom>
          <a:solidFill>
            <a:srgbClr val="161C2A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812280" y="3127248"/>
            <a:ext cx="45720" cy="877824"/>
          </a:xfrm>
          <a:prstGeom prst="rect">
            <a:avLst/>
          </a:prstGeom>
          <a:solidFill>
            <a:srgbClr val="B08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995160" y="3090672"/>
            <a:ext cx="1901952" cy="9509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E6E9EF"/>
                </a:solidFill>
                <a:latin typeface="Calibri"/>
              </a:rPr>
              <a:t>Claude Sonnet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reasoning layer
temperature 0, JSON output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217920" y="3566160"/>
            <a:ext cx="59436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601200" y="3017520"/>
            <a:ext cx="1901952" cy="1097280"/>
          </a:xfrm>
          <a:prstGeom prst="roundRect">
            <a:avLst>
              <a:gd name="adj" fmla="val 8000"/>
            </a:avLst>
          </a:prstGeom>
          <a:solidFill>
            <a:srgbClr val="161C2A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9601200" y="3127248"/>
            <a:ext cx="45720" cy="877824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784080" y="3090672"/>
            <a:ext cx="1609344" cy="9509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E6E9EF"/>
                </a:solidFill>
                <a:latin typeface="Calibri"/>
              </a:rPr>
              <a:t>Validation gate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schema check, numbers must
match our computed values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06840" y="3566160"/>
            <a:ext cx="594360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601200" y="4572000"/>
            <a:ext cx="1901952" cy="64008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9601200" y="4681728"/>
            <a:ext cx="45720" cy="420623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784080" y="4645152"/>
            <a:ext cx="1609344" cy="49377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Answer to user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chat panel in the app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552176" y="4114800"/>
            <a:ext cx="0" cy="457200"/>
          </a:xfrm>
          <a:prstGeom prst="line">
            <a:avLst/>
          </a:prstGeom>
          <a:ln w="19050">
            <a:solidFill>
              <a:srgbClr val="3DDC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875520" y="4114800"/>
            <a:ext cx="0" cy="320040"/>
          </a:xfrm>
          <a:prstGeom prst="line">
            <a:avLst/>
          </a:prstGeom>
          <a:ln w="19050">
            <a:solidFill>
              <a:srgbClr val="FF6B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7909560" y="4434840"/>
            <a:ext cx="1965960" cy="0"/>
          </a:xfrm>
          <a:prstGeom prst="line">
            <a:avLst/>
          </a:prstGeom>
          <a:ln w="19050">
            <a:solidFill>
              <a:srgbClr val="FF6B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7909560" y="4114800"/>
            <a:ext cx="0" cy="320040"/>
          </a:xfrm>
          <a:prstGeom prst="line">
            <a:avLst/>
          </a:prstGeom>
          <a:ln w="19050">
            <a:solidFill>
              <a:srgbClr val="FF6B6B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995160" y="4160520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FF6B6B"/>
                </a:solidFill>
                <a:latin typeface="Calibri"/>
              </a:rPr>
              <a:t>retry on invalid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4406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F2B73F"/>
                </a:solidFill>
                <a:latin typeface="Calibri"/>
              </a:rPr>
              <a:t>Grounding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All numbers come from our code, the model only explains and combines.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25112" y="54406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F2B73F"/>
                </a:solidFill>
                <a:latin typeface="Calibri"/>
              </a:rPr>
              <a:t>Prompt engineering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Fixed system prompt, few-shot examples, strict JSON schema for output.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4424" y="54406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F2B73F"/>
                </a:solidFill>
                <a:latin typeface="Calibri"/>
              </a:rPr>
              <a:t>No hallucination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Validation rejects any answer whose numbers differ from ours.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8A93A6"/>
                </a:solidFill>
                <a:latin typeface="Calibri"/>
              </a:rPr>
              <a:t>MARKET.PY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88136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2B73F"/>
                </a:solidFill>
                <a:latin typeface="Calibri"/>
              </a:rPr>
              <a:t>Live Market Data &amp; Sentiment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F2B73F"/>
                </a:solidFill>
                <a:latin typeface="Calibri"/>
              </a:rPr>
              <a:t>PRICE FEED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03120"/>
            <a:ext cx="1965960" cy="77724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" y="2212848"/>
            <a:ext cx="45720" cy="557784"/>
          </a:xfrm>
          <a:prstGeom prst="rect">
            <a:avLst/>
          </a:prstGeom>
          <a:solidFill>
            <a:srgbClr val="5B9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2176272"/>
            <a:ext cx="1673351" cy="6309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Request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5 tickers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51760" y="2491739"/>
            <a:ext cx="246888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898648" y="2103120"/>
            <a:ext cx="1965960" cy="77724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2898648" y="2212848"/>
            <a:ext cx="45720" cy="557784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081528" y="2176272"/>
            <a:ext cx="1673351" cy="6309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Cache?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TTL 60 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864608" y="2491739"/>
            <a:ext cx="246888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11496" y="2103120"/>
            <a:ext cx="1965960" cy="77724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5111496" y="2212848"/>
            <a:ext cx="45720" cy="557784"/>
          </a:xfrm>
          <a:prstGeom prst="rect">
            <a:avLst/>
          </a:prstGeom>
          <a:solidFill>
            <a:srgbClr val="3DC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294376" y="2176272"/>
            <a:ext cx="1673351" cy="6309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yfinance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ThreadPool ×5
6 s timeout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077456" y="2491739"/>
            <a:ext cx="246888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324344" y="2103120"/>
            <a:ext cx="1965960" cy="77724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324344" y="2212848"/>
            <a:ext cx="45720" cy="557784"/>
          </a:xfrm>
          <a:prstGeom prst="rect">
            <a:avLst/>
          </a:prstGeom>
          <a:solidFill>
            <a:srgbClr val="8A9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507223" y="2176272"/>
            <a:ext cx="1673351" cy="6309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fallback.json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on any failure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290304" y="2491739"/>
            <a:ext cx="246888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537192" y="2103120"/>
            <a:ext cx="1965960" cy="77724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9537192" y="2212848"/>
            <a:ext cx="45720" cy="557784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720072" y="2176272"/>
            <a:ext cx="1673351" cy="6309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Response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price, Δ%, live flag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3881628" y="1920239"/>
            <a:ext cx="0" cy="182881"/>
          </a:xfrm>
          <a:prstGeom prst="line">
            <a:avLst/>
          </a:prstGeom>
          <a:ln w="19050">
            <a:solidFill>
              <a:srgbClr val="3DDC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81628" y="1920239"/>
            <a:ext cx="6638544" cy="0"/>
          </a:xfrm>
          <a:prstGeom prst="line">
            <a:avLst/>
          </a:prstGeom>
          <a:ln w="19050">
            <a:solidFill>
              <a:srgbClr val="3DDC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520172" y="1920239"/>
            <a:ext cx="0" cy="182881"/>
          </a:xfrm>
          <a:prstGeom prst="line">
            <a:avLst/>
          </a:prstGeom>
          <a:ln w="19050">
            <a:solidFill>
              <a:srgbClr val="3DDC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064508" y="171907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3DDC97"/>
                </a:solidFill>
                <a:latin typeface="Calibri"/>
              </a:rPr>
              <a:t>cache hit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32461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F2B73F"/>
                </a:solidFill>
                <a:latin typeface="Calibri"/>
              </a:rPr>
              <a:t>NEWS SENTIMENT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3566160"/>
            <a:ext cx="1965960" cy="77724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685800" y="3675887"/>
            <a:ext cx="45720" cy="557784"/>
          </a:xfrm>
          <a:prstGeom prst="rect">
            <a:avLst/>
          </a:prstGeom>
          <a:solidFill>
            <a:srgbClr val="3DC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68680" y="3639312"/>
            <a:ext cx="1673351" cy="6309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Fetch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^NSEI + RELIANCE.NS
TTL 600 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651760" y="3954780"/>
            <a:ext cx="246888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2898648" y="3566160"/>
            <a:ext cx="1965960" cy="77724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898648" y="3675887"/>
            <a:ext cx="45720" cy="557784"/>
          </a:xfrm>
          <a:prstGeom prst="rect">
            <a:avLst/>
          </a:prstGeom>
          <a:solidFill>
            <a:srgbClr val="5B9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081528" y="3639312"/>
            <a:ext cx="1673351" cy="6309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Normalise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title, source,
url, timestamp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864608" y="3954780"/>
            <a:ext cx="246888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5111496" y="3566160"/>
            <a:ext cx="1965960" cy="77724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111496" y="3675887"/>
            <a:ext cx="45720" cy="557784"/>
          </a:xfrm>
          <a:prstGeom prst="rect">
            <a:avLst/>
          </a:prstGeom>
          <a:solidFill>
            <a:srgbClr val="B08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294376" y="3639312"/>
            <a:ext cx="1673351" cy="6309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Lexicon score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+1 positive word
−1 negative word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077456" y="3954780"/>
            <a:ext cx="246888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7324344" y="3566160"/>
            <a:ext cx="1965960" cy="77724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7324344" y="3675887"/>
            <a:ext cx="45720" cy="557784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507223" y="3639312"/>
            <a:ext cx="1673351" cy="6309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Label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positive / neutral /
negative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290304" y="3954780"/>
            <a:ext cx="246888" cy="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9537192" y="3566160"/>
            <a:ext cx="1965960" cy="77724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9537192" y="3675887"/>
            <a:ext cx="45720" cy="557784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9720072" y="3639312"/>
            <a:ext cx="1673351" cy="6309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Market mood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avg score → Optimistic /
Steady / Cautious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685800" y="4709160"/>
          <a:ext cx="6766560" cy="1645920"/>
        </p:xfrm>
        <a:graphic>
          <a:graphicData uri="http://schemas.openxmlformats.org/drawingml/2006/table">
            <a:tbl>
              <a:tblPr firstRow="0" bandRow="0" firstCol="0" lastRow="0" lastCol="0"/>
              <a:tblGrid>
                <a:gridCol w="1737360"/>
                <a:gridCol w="2194560"/>
                <a:gridCol w="283464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2B73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2B73F"/>
                          </a:solidFill>
                          <a:latin typeface="Calibri"/>
                        </a:rPr>
                        <a:t>Name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2B73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E6E9EF"/>
                          </a:solidFill>
                          <a:latin typeface="Calibri"/>
                        </a:rPr>
                        <a:t>RELIANCE.NS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Reliance Industries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largest NSE company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E6E9EF"/>
                          </a:solidFill>
                          <a:latin typeface="Calibri"/>
                        </a:rPr>
                        <a:t>TCS.NS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Tata Consultancy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biggest IT exporter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E6E9EF"/>
                          </a:solidFill>
                          <a:latin typeface="Calibri"/>
                        </a:rPr>
                        <a:t>HDFCBANK.NS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HDFC Bank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largest private bank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E6E9EF"/>
                          </a:solidFill>
                          <a:latin typeface="Calibri"/>
                        </a:rPr>
                        <a:t>GOLDBEES.NS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Nippon Gold ETF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gold in demat form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E6E9EF"/>
                          </a:solidFill>
                          <a:latin typeface="Calibri"/>
                        </a:rPr>
                        <a:t>BTC-INR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Bitcoin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8A93A6"/>
                          </a:solidFill>
                          <a:latin typeface="Calibri"/>
                        </a:rPr>
                        <a:t>most volatile pick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</a:tbl>
          </a:graphicData>
        </a:graphic>
      </p:graphicFrame>
      <p:pic>
        <p:nvPicPr>
          <p:cNvPr id="50" name="Picture 49" descr="screenshot-mark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4617720"/>
            <a:ext cx="3730752" cy="2215134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8A93A6"/>
                </a:solidFill>
                <a:latin typeface="Calibri"/>
              </a:rPr>
              <a:t>PROJECTION.PY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88136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2B73F"/>
                </a:solidFill>
                <a:latin typeface="Calibri"/>
              </a:rPr>
              <a:t>Growth Projection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74519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F2B73F"/>
                </a:solidFill>
                <a:latin typeface="Calibri"/>
              </a:rPr>
              <a:t>Formula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5394960" cy="1417320"/>
          </a:xfrm>
          <a:prstGeom prst="roundRect">
            <a:avLst>
              <a:gd name="adj" fmla="val 7000"/>
            </a:avLst>
          </a:prstGeom>
          <a:solidFill>
            <a:srgbClr val="161C2A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>
                <a:solidFill>
                  <a:srgbClr val="E6E9EF"/>
                </a:solidFill>
                <a:latin typeface="Consolas"/>
              </a:rPr>
              <a:t>r  = Σ weightᵢ × returnᵢ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>
                <a:solidFill>
                  <a:srgbClr val="E6E9EF"/>
                </a:solidFill>
                <a:latin typeface="Consolas"/>
              </a:rPr>
              <a:t>σ  = 0.7 × Σ weightᵢ × volatilityᵢ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>
                <a:solidFill>
                  <a:srgbClr val="E6E9EF"/>
                </a:solidFill>
                <a:latin typeface="Consolas"/>
              </a:rPr>
              <a:t>V(m) = amount × (1 + r)^(m / 12)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>
                <a:solidFill>
                  <a:srgbClr val="E6E9EF"/>
                </a:solidFill>
                <a:latin typeface="Consolas"/>
              </a:rPr>
              <a:t>band: r − σ  (low)   r + σ  (high)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931920"/>
            <a:ext cx="5394960" cy="5029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85800" y="4041648"/>
            <a:ext cx="45720" cy="283464"/>
          </a:xfrm>
          <a:prstGeom prst="rect">
            <a:avLst/>
          </a:prstGeom>
          <a:solidFill>
            <a:srgbClr val="5B9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8680" y="4005072"/>
            <a:ext cx="5102352" cy="3566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Portfolio return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weighted sum of expected returns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17320" y="4434840"/>
            <a:ext cx="0" cy="91439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" y="4526280"/>
            <a:ext cx="5394960" cy="5029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85800" y="4636008"/>
            <a:ext cx="45720" cy="283464"/>
          </a:xfrm>
          <a:prstGeom prst="rect">
            <a:avLst/>
          </a:prstGeom>
          <a:solidFill>
            <a:srgbClr val="B08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68680" y="4599432"/>
            <a:ext cx="5102352" cy="3566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Portfolio risk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weighted volatility × 0.7 diversification discount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17320" y="5029200"/>
            <a:ext cx="0" cy="9144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85800" y="5120640"/>
            <a:ext cx="5394960" cy="5029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85800" y="5230368"/>
            <a:ext cx="45720" cy="283464"/>
          </a:xfrm>
          <a:prstGeom prst="rect">
            <a:avLst/>
          </a:prstGeom>
          <a:solidFill>
            <a:srgbClr val="3DC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68680" y="5193792"/>
            <a:ext cx="5102352" cy="3566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Monthly compounding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one point per month for N years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417320" y="5623560"/>
            <a:ext cx="0" cy="91440"/>
          </a:xfrm>
          <a:prstGeom prst="line">
            <a:avLst/>
          </a:prstGeom>
          <a:ln w="19050">
            <a:solidFill>
              <a:srgbClr val="F2B7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5715000"/>
            <a:ext cx="5394960" cy="50292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85800" y="5824728"/>
            <a:ext cx="45720" cy="283464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68680" y="5788152"/>
            <a:ext cx="5102352" cy="3566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E6E9EF"/>
                </a:solidFill>
                <a:latin typeface="Calibri"/>
              </a:rPr>
              <a:t>Three curves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93A6"/>
                </a:solidFill>
                <a:latin typeface="Calibri"/>
              </a:rPr>
              <a:t>mid, low, high, plus final CAGR</a:t>
            </a:r>
          </a:p>
        </p:txBody>
      </p:sp>
      <p:pic>
        <p:nvPicPr>
          <p:cNvPr id="23" name="Picture 22" descr="screenshot-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74519"/>
            <a:ext cx="5102352" cy="302952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0" y="5394960"/>
            <a:ext cx="5102352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8A93A6"/>
                </a:solidFill>
                <a:latin typeface="Calibri"/>
              </a:rPr>
              <a:t>Example: 1 lakh, 5 years, risk 60 → r ≈ 12.4%, final ≈ 1.79 lakh, band 1.3 to 2.4 lakh.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2B73F"/>
                </a:solidFill>
                <a:latin typeface="Calibri"/>
              </a:rPr>
              <a:t>Tech Stack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828800"/>
          <a:ext cx="10817352" cy="3840480"/>
        </p:xfrm>
        <a:graphic>
          <a:graphicData uri="http://schemas.openxmlformats.org/drawingml/2006/table">
            <a:tbl>
              <a:tblPr firstRow="0" bandRow="0" firstCol="0" lastRow="0" lastCol="0"/>
              <a:tblGrid>
                <a:gridCol w="2194560"/>
                <a:gridCol w="4297680"/>
                <a:gridCol w="4325112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2B73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B73F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2B73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109728" marR="109728" marT="36576" marB="36576" anchor="ctr">
                    <a:solidFill>
                      <a:srgbClr val="161C2A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6E9EF"/>
                          </a:solidFill>
                          <a:latin typeface="Calibri"/>
                        </a:rPr>
                        <a:t>Frontend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React 18, TypeScript, Vite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SPA, typed API client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6E9EF"/>
                          </a:solidFill>
                          <a:latin typeface="Calibri"/>
                        </a:rPr>
                        <a:t>Styling / charts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Tailwind CSS, Recharts, lightweight-charts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dashboard, pie, projection, candles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6E9E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Python 3.12, FastAPI, Pydantic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REST API, validation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6E9EF"/>
                          </a:solidFill>
                          <a:latin typeface="Calibri"/>
                        </a:rPr>
                        <a:t>Machine learning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scikit-learn, NumPy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Logistic Regression risk model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6E9EF"/>
                          </a:solidFill>
                          <a:latin typeface="Calibri"/>
                        </a:rPr>
                        <a:t>AI layer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Claude Sonnet via agentic harness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grounded reasoning, JSON output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6E9EF"/>
                          </a:solidFill>
                          <a:latin typeface="Calibri"/>
                        </a:rPr>
                        <a:t>Market data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yfinance (Yahoo Finance API)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prices, headlines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6E9EF"/>
                          </a:solidFill>
                          <a:latin typeface="Calibri"/>
                        </a:rPr>
                        <a:t>NLP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lexicon-based sentiment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headline polarity, market mood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6E9EF"/>
                          </a:solidFill>
                          <a:latin typeface="Calibri"/>
                        </a:rPr>
                        <a:t>Infra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ThreadPoolExecutor, TTL cache, fallback.json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latency and resilience</a:t>
                      </a:r>
                    </a:p>
                  </a:txBody>
                  <a:tcPr marL="109728" marR="109728" marT="36576" marB="36576" anchor="ctr">
                    <a:solidFill>
                      <a:srgbClr val="0A0D14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6E9EF"/>
                          </a:solidFill>
                          <a:latin typeface="Calibri"/>
                        </a:rPr>
                        <a:t>Deployment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atharva.funl.bio, GitHub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8A93A6"/>
                          </a:solidFill>
                          <a:latin typeface="Calibri"/>
                        </a:rPr>
                        <a:t>live demo, source</a:t>
                      </a:r>
                    </a:p>
                  </a:txBody>
                  <a:tcPr marL="109728" marR="109728" marT="36576" marB="36576" anchor="ctr">
                    <a:solidFill>
                      <a:srgbClr val="10151F"/>
                    </a:solidFill>
                    <a:lnL w="6350">
                      <a:solidFill>
                        <a:srgbClr val="1E2634"/>
                      </a:solidFill>
                    </a:lnL>
                    <a:lnR w="6350">
                      <a:solidFill>
                        <a:srgbClr val="1E2634"/>
                      </a:solidFill>
                    </a:lnR>
                    <a:lnT w="6350">
                      <a:solidFill>
                        <a:srgbClr val="1E2634"/>
                      </a:solidFill>
                    </a:lnT>
                    <a:lnB w="6350">
                      <a:solidFill>
                        <a:srgbClr val="1E2634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2B73F"/>
                </a:solidFill>
                <a:latin typeface="Calibr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4884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800" b="1">
                <a:solidFill>
                  <a:srgbClr val="F2B73F"/>
                </a:solidFill>
                <a:latin typeface="Calibri"/>
              </a:rPr>
              <a:t>atharva.funl.bio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017520"/>
            <a:ext cx="1463040" cy="41148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85800" y="333756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2B73F"/>
          </a:solidFill>
          <a:ln w="12700">
            <a:solidFill>
              <a:srgbClr val="F2B7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0A0D14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37413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Enter 1 lakh, 5 years, risk 60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9476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2B73F"/>
          </a:solidFill>
          <a:ln w="12700">
            <a:solidFill>
              <a:srgbClr val="F2B7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0A0D14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83133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Read risk score and allocation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25196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2B73F"/>
          </a:solidFill>
          <a:ln w="12700">
            <a:solidFill>
              <a:srgbClr val="F2B7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0A0D14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28853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Move slider, watch pie and projection update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70916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2B73F"/>
          </a:solidFill>
          <a:ln w="12700">
            <a:solidFill>
              <a:srgbClr val="F2B7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0A0D14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74573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Open Markets tab for live prices and news mood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16636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2B73F"/>
          </a:solidFill>
          <a:ln w="12700">
            <a:solidFill>
              <a:srgbClr val="F2B7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0A0D14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20293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Ask the assistant a question about the plan</a:t>
            </a:r>
          </a:p>
        </p:txBody>
      </p:sp>
      <p:pic>
        <p:nvPicPr>
          <p:cNvPr id="16" name="Picture 15" descr="screenshot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965960"/>
            <a:ext cx="5715000" cy="381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2B73F"/>
                </a:solidFill>
                <a:latin typeface="Calibri"/>
              </a:rPr>
              <a:t>Future Scope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3502152" cy="114300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85800" y="2121408"/>
            <a:ext cx="45720" cy="923544"/>
          </a:xfrm>
          <a:prstGeom prst="rect">
            <a:avLst/>
          </a:prstGeom>
          <a:solidFill>
            <a:srgbClr val="5B9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2084832"/>
            <a:ext cx="3209544" cy="9966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E6E9EF"/>
                </a:solidFill>
                <a:latin typeface="Calibri"/>
              </a:rPr>
              <a:t>Broker integration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8A93A6"/>
                </a:solidFill>
                <a:latin typeface="Calibri"/>
              </a:rPr>
              <a:t>Zerodha / Groww API so the plan can be executed in one click.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2011680"/>
            <a:ext cx="3502152" cy="114300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4480560" y="2121408"/>
            <a:ext cx="45720" cy="923544"/>
          </a:xfrm>
          <a:prstGeom prst="rect">
            <a:avLst/>
          </a:prstGeom>
          <a:solidFill>
            <a:srgbClr val="B08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663440" y="2084832"/>
            <a:ext cx="3209544" cy="9966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E6E9EF"/>
                </a:solidFill>
                <a:latin typeface="Calibri"/>
              </a:rPr>
              <a:t>Real user data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8A93A6"/>
                </a:solidFill>
                <a:latin typeface="Calibri"/>
              </a:rPr>
              <a:t>Retrain the risk model on actual user behaviour, improve accuracy.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2011680"/>
            <a:ext cx="3502152" cy="114300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275320" y="2121408"/>
            <a:ext cx="45720" cy="923544"/>
          </a:xfrm>
          <a:prstGeom prst="rect">
            <a:avLst/>
          </a:prstGeom>
          <a:solidFill>
            <a:srgbClr val="3DC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458200" y="2084832"/>
            <a:ext cx="3209544" cy="9966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E6E9EF"/>
                </a:solidFill>
                <a:latin typeface="Calibri"/>
              </a:rPr>
              <a:t>More assets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8A93A6"/>
                </a:solidFill>
                <a:latin typeface="Calibri"/>
              </a:rPr>
              <a:t>Mutual funds, bonds, SIP mode, more NSE tickers.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29000"/>
            <a:ext cx="3502152" cy="114300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85800" y="3538728"/>
            <a:ext cx="45720" cy="923544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3502152"/>
            <a:ext cx="3209544" cy="9966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E6E9EF"/>
                </a:solidFill>
                <a:latin typeface="Calibri"/>
              </a:rPr>
              <a:t>Transformer sentiment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8A93A6"/>
                </a:solidFill>
                <a:latin typeface="Calibri"/>
              </a:rPr>
              <a:t>Replace lexicon with a fine-tuned FinBERT model.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3429000"/>
            <a:ext cx="3502152" cy="114300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480560" y="3538728"/>
            <a:ext cx="45720" cy="923544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663440" y="3502152"/>
            <a:ext cx="3209544" cy="9966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E6E9EF"/>
                </a:solidFill>
                <a:latin typeface="Calibri"/>
              </a:rPr>
              <a:t>Alerts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8A93A6"/>
                </a:solidFill>
                <a:latin typeface="Calibri"/>
              </a:rPr>
              <a:t>Push notification when market mood turns negative on a held asset.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75320" y="3429000"/>
            <a:ext cx="3502152" cy="1143000"/>
          </a:xfrm>
          <a:prstGeom prst="roundRect">
            <a:avLst>
              <a:gd name="adj" fmla="val 8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8275320" y="3538728"/>
            <a:ext cx="45720" cy="92354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458200" y="3502152"/>
            <a:ext cx="3209544" cy="9966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E6E9EF"/>
                </a:solidFill>
                <a:latin typeface="Calibri"/>
              </a:rPr>
              <a:t>Regional languages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8A93A6"/>
                </a:solidFill>
                <a:latin typeface="Calibri"/>
              </a:rPr>
              <a:t>Hindi and other languages in the assistant.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12064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E6E9EF"/>
                </a:solidFill>
                <a:latin typeface="Calibri"/>
              </a:rPr>
              <a:t>Thank you.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